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56f705ee7e54f92" Type="http://schemas.openxmlformats.org/officeDocument/2006/relationships/officeDocument" Target="ppt/presentation.xml"/><Relationship Id="Rb9c5543929344121" Type="http://schemas.openxmlformats.org/officeDocument/2006/relationships/extended-properties" Target="docProps/app.xml"/><Relationship Id="Rbd20a2efb0b64b9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2d853a62c1864a3c"/>
  </p:sldMasterIdLst>
  <p:notesMasterIdLst>
    <p:notesMasterId xmlns:r="http://schemas.openxmlformats.org/officeDocument/2006/relationships" r:id="R5e4d278ae570480c"/>
  </p:notesMasterIdLst>
  <p:sldIdLst>
    <p:sldId xmlns:r="http://schemas.openxmlformats.org/officeDocument/2006/relationships" id="256" r:id="Ra1460f9409924fa7"/>
    <p:sldId xmlns:r="http://schemas.openxmlformats.org/officeDocument/2006/relationships" id="257" r:id="R7e5994c342014269"/>
    <p:sldId xmlns:r="http://schemas.openxmlformats.org/officeDocument/2006/relationships" id="258" r:id="Rac3d3297bee947cd"/>
    <p:sldId xmlns:r="http://schemas.openxmlformats.org/officeDocument/2006/relationships" id="259" r:id="Re3ccced6dfad43dc"/>
    <p:sldId xmlns:r="http://schemas.openxmlformats.org/officeDocument/2006/relationships" id="260" r:id="R2909c7f1ee2b4c25"/>
    <p:sldId xmlns:r="http://schemas.openxmlformats.org/officeDocument/2006/relationships" id="261" r:id="Ra478ed7e961d4b2a"/>
    <p:sldId xmlns:r="http://schemas.openxmlformats.org/officeDocument/2006/relationships" id="262" r:id="R017e51d1a2404030"/>
    <p:sldId xmlns:r="http://schemas.openxmlformats.org/officeDocument/2006/relationships" id="263" r:id="R76393ad094b74676"/>
    <p:sldId xmlns:r="http://schemas.openxmlformats.org/officeDocument/2006/relationships" id="264" r:id="R0b6ffcb1d2c1409d"/>
    <p:sldId xmlns:r="http://schemas.openxmlformats.org/officeDocument/2006/relationships" id="265" r:id="R3f27c757147b4e1b"/>
    <p:sldId xmlns:r="http://schemas.openxmlformats.org/officeDocument/2006/relationships" id="266" r:id="R54a6a4e92a4943a9"/>
    <p:sldId xmlns:r="http://schemas.openxmlformats.org/officeDocument/2006/relationships" id="267" r:id="R1ea2becfa32c4dd9"/>
    <p:sldId xmlns:r="http://schemas.openxmlformats.org/officeDocument/2006/relationships" id="268" r:id="Re55fb46e917b40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17e51d1a2404030" Type="http://schemas.openxmlformats.org/officeDocument/2006/relationships/slide" Target="slides/slide7.xml"/><Relationship Id="R0b6ffcb1d2c1409d" Type="http://schemas.openxmlformats.org/officeDocument/2006/relationships/slide" Target="slides/slide9.xml"/><Relationship Id="R1ea2becfa32c4dd9" Type="http://schemas.openxmlformats.org/officeDocument/2006/relationships/slide" Target="slides/slide12.xml"/><Relationship Id="R2909c7f1ee2b4c25" Type="http://schemas.openxmlformats.org/officeDocument/2006/relationships/slide" Target="slides/slide5.xml"/><Relationship Id="R2c8322b33f794811" Type="http://schemas.openxmlformats.org/officeDocument/2006/relationships/theme" Target="theme/theme1.xml"/><Relationship Id="R2d853a62c1864a3c" Type="http://schemas.openxmlformats.org/officeDocument/2006/relationships/slideMaster" Target="slideMasters/slideMaster1.xml"/><Relationship Id="R3f27c757147b4e1b" Type="http://schemas.openxmlformats.org/officeDocument/2006/relationships/slide" Target="slides/slide10.xml"/><Relationship Id="R54a6a4e92a4943a9" Type="http://schemas.openxmlformats.org/officeDocument/2006/relationships/slide" Target="slides/slide11.xml"/><Relationship Id="R5e4d278ae570480c" Type="http://schemas.openxmlformats.org/officeDocument/2006/relationships/notesMaster" Target="notesMasters/notesMaster1.xml"/><Relationship Id="R76393ad094b74676" Type="http://schemas.openxmlformats.org/officeDocument/2006/relationships/slide" Target="slides/slide8.xml"/><Relationship Id="R7e5994c342014269" Type="http://schemas.openxmlformats.org/officeDocument/2006/relationships/slide" Target="slides/slide2.xml"/><Relationship Id="Ra1460f9409924fa7" Type="http://schemas.openxmlformats.org/officeDocument/2006/relationships/slide" Target="slides/slide1.xml"/><Relationship Id="Ra3c16ca83d864b97" Type="http://schemas.openxmlformats.org/officeDocument/2006/relationships/tableStyles" Target="tableStyles.xml"/><Relationship Id="Ra478ed7e961d4b2a" Type="http://schemas.openxmlformats.org/officeDocument/2006/relationships/slide" Target="slides/slide6.xml"/><Relationship Id="Rac3d3297bee947cd" Type="http://schemas.openxmlformats.org/officeDocument/2006/relationships/slide" Target="slides/slide3.xml"/><Relationship Id="Re3ccced6dfad43dc" Type="http://schemas.openxmlformats.org/officeDocument/2006/relationships/slide" Target="slides/slide4.xml"/><Relationship Id="Re55fb46e917b403e" Type="http://schemas.openxmlformats.org/officeDocument/2006/relationships/slide" Target="slides/slide13.xml"/><Relationship Id="Re8d53408070e4a6d"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f186c7445e2840ed"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3786897556244720" Type="http://schemas.openxmlformats.org/officeDocument/2006/relationships/slide" Target="../slides/slide1.xml"/><Relationship Id="R6f9c04d71b624f5d"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1bc50bc1e8814c76" Type="http://schemas.openxmlformats.org/officeDocument/2006/relationships/slide" Target="../slides/slide2.xml"/><Relationship Id="R859ff788b796415d"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a760c6204bbb48cc" Type="http://schemas.openxmlformats.org/officeDocument/2006/relationships/slide" Target="../slides/slide3.xml"/><Relationship Id="Rfb34b8be6f9c4896"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2800896e0cf5484e" Type="http://schemas.openxmlformats.org/officeDocument/2006/relationships/slide" Target="../slides/slide4.xml"/><Relationship Id="Rb932ef6237434029"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5189ef5215634569" Type="http://schemas.openxmlformats.org/officeDocument/2006/relationships/slide" Target="../slides/slide5.xml"/><Relationship Id="R78d6224c86224a7a"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907bd3f1f9694d59" Type="http://schemas.openxmlformats.org/officeDocument/2006/relationships/slide" Target="../slides/slide6.xml"/><Relationship Id="Rc2c25776a1b74523"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5d2f0218847e4aaa" Type="http://schemas.openxmlformats.org/officeDocument/2006/relationships/notesMaster" Target="../notesMasters/notesMaster1.xml"/><Relationship Id="Re80f33192fcb44bf"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026bba48550e4f0c" Type="http://schemas.openxmlformats.org/officeDocument/2006/relationships/slide" Target="../slides/slide8.xml"/><Relationship Id="Re0d9eba3e10f435d"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34d7e911a6f84b03" Type="http://schemas.openxmlformats.org/officeDocument/2006/relationships/notesMaster" Target="../notesMasters/notesMaster1.xml"/><Relationship Id="R4a08b26c06794128"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6df8d6e2003849d5" Type="http://schemas.openxmlformats.org/officeDocument/2006/relationships/notesMaster" Target="../notesMasters/notesMaster1.xml"/><Relationship Id="Rbffae31ea907413b"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04e95a71560b4b28" Type="http://schemas.openxmlformats.org/officeDocument/2006/relationships/slide" Target="../slides/slide11.xml"/><Relationship Id="Rf44c26311e654739"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5441afb75a4d4797" Type="http://schemas.openxmlformats.org/officeDocument/2006/relationships/slide" Target="../slides/slide12.xml"/><Relationship Id="Rad98de0e54b74dad"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65100c18422241d2" Type="http://schemas.openxmlformats.org/officeDocument/2006/relationships/notesMaster" Target="../notesMasters/notesMaster1.xml"/><Relationship Id="R6e5ffa319a474969" Type="http://schemas.openxmlformats.org/officeDocument/2006/relationships/slide" Target="../slides/slide13.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Gantt chart summarizes the documented weekly milestones from the proposal, backlog, and Week 4–7 journals. The source records weekly scope, not day-level task durations.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project uses Django templates and CSS for the frontend. The same Django application routes requests through views, forms, services, and the ORM. SQLite is the prototype database. This is a layered monolith, not a separate React client talking to a Django 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placement activity: an administrator sets up and publishes the round, the system writes a scheduled reminder record, and the student completes the checklist. The readiness result is calculated from required items. There is no email sender in this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decision branches. On-time submissions are accepted. Late submissions follow the assignment's configured reject, penalty, or grace policy. Accepted submissions can be reviewed and graded by TA/Faculty. The similarity score compares normalized text tokens and must not be presented as plagiarism detection.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placement half of the combined ER diagram, enlarged for presentation. The complete editable combined ER diagram is in project-proposal/figures/er-diagram.drawio and the proposal. PlacementRound belongs to Company and owns checklist items and reminder logs. ChecklistCompletion is unique per checklist item and student. User foreign keys record who created and completed the relevant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academic half of the combined ER diagram. Assignment owns student submissions, with a unique constraint for each assignment/student pair. Grade is a one-to-one optional child of Submission. User foreign keys record the assignment author, student and grader. The complete combined model is available as an editable Draw.io file in the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week split to explain implementation progress. Week 5 established requirements, architecture, authentication, the role model, policies, and user flows. Week 6 integrated the placement and academic thin paths and made the role-specific UI responsive.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records 12 automated tests, including six late-policy boundaries. Browser QA exercised both end-to-end workflows, role denial cases and a 390 by 844 viewport. GitHub Actions runs migrations, Django checks and tests; the documentation site has its own build/deployment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clear about the prototype boundary. Week 7 stores reminders as log rows and uses SQLite/local media. It does not send email. The similarity feature is a deterministic token-overlap stub rather than plagiarism detection. Production hardening and PostgreSQL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0f17997638324a03"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774a2394b2e54ff5" Type="http://schemas.openxmlformats.org/officeDocument/2006/relationships/theme" Target="theme/theme2.xml"/><Relationship Id="Rfa9fc55251454ed2"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9fc55251454e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e5aab9ce9d94ac0" Type="http://schemas.openxmlformats.org/officeDocument/2006/relationships/image" Target="../media/image.png"/><Relationship Id="Ra9434d02413743c3" Type="http://schemas.openxmlformats.org/officeDocument/2006/relationships/notesSlide" Target="../notesSlides/notesSlide1.xml"/><Relationship Id="Rabaa17dc4dd14628"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3ee45c47b8b841ae" Type="http://schemas.openxmlformats.org/officeDocument/2006/relationships/notesSlide" Target="../notesSlides/notesSlide2.xml"/><Relationship Id="R9d9f94a910084949" Type="http://schemas.openxmlformats.org/officeDocument/2006/relationships/slideLayout" Target="../slideLayouts/slideLayout1.xml"/><Relationship Id="Rf831836ee25b4dcb" Type="http://schemas.openxmlformats.org/officeDocument/2006/relationships/image" Target="../media/image2.png"/></Relationships>
</file>

<file path=ppt/slides/_rels/slide3.xml.rels><?xml version='1.0' encoding='UTF-8' standalone='yes'?>
<Relationships xmlns="http://schemas.openxmlformats.org/package/2006/relationships"><Relationship Id="R17fdd2f1e5634e18" Type="http://schemas.openxmlformats.org/officeDocument/2006/relationships/slideLayout" Target="../slideLayouts/slideLayout1.xml"/><Relationship Id="R2f3887cb5aeb4845" Type="http://schemas.openxmlformats.org/officeDocument/2006/relationships/image" Target="../media/image3.png"/><Relationship Id="Rcd1ddba64e9440ea"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90141cdbc45b4168" Type="http://schemas.openxmlformats.org/officeDocument/2006/relationships/notesSlide" Target="../notesSlides/notesSlide4.xml"/><Relationship Id="R94aa5dabb50c4d40"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3d2b4ad36bca4338" Type="http://schemas.openxmlformats.org/officeDocument/2006/relationships/notesSlide" Target="../notesSlides/notesSlide5.xml"/><Relationship Id="Recdf635dba2248e8"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223bf7d5dd274086" Type="http://schemas.openxmlformats.org/officeDocument/2006/relationships/slideLayout" Target="../slideLayouts/slideLayout1.xml"/><Relationship Id="R2390fbf947134cb3" Type="http://schemas.openxmlformats.org/officeDocument/2006/relationships/notesSlide" Target="../notesSlides/notesSlide6.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a24b108ada944c78" Type="http://schemas.openxmlformats.org/officeDocument/2006/relationships/notesSlide" Target="../notesSlides/notesSlide7.xml"/><Relationship Id="Rf98a0b1b20d64ced"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2114796fbeec4ac1" Type="http://schemas.openxmlformats.org/officeDocument/2006/relationships/slideLayout" Target="../slideLayouts/slideLayout1.xml"/><Relationship Id="R4442287101994ef8" Type="http://schemas.openxmlformats.org/officeDocument/2006/relationships/notesSlide" Target="../notesSlides/notesSlide8.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2c2814756e234d84" Type="http://schemas.openxmlformats.org/officeDocument/2006/relationships/notesSlide" Target="../notesSlides/notesSlide9.xml"/><Relationship Id="R82d576947d184300"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48c2dc1a19af488f" Type="http://schemas.openxmlformats.org/officeDocument/2006/relationships/notesSlide" Target="../notesSlides/notesSlide10.xml"/><Relationship Id="R9a33ea38ed2047e8"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34a3bc6cff1d4a54" Type="http://schemas.openxmlformats.org/officeDocument/2006/relationships/slideLayout" Target="../slideLayouts/slideLayout1.xml"/><Relationship Id="Rf551fcfb96d2438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0f2160cbeb514a8d" Type="http://schemas.openxmlformats.org/officeDocument/2006/relationships/slideLayout" Target="../slideLayouts/slideLayout1.xml"/><Relationship Id="R7c6c64330b374ac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057b135399134a80" Type="http://schemas.openxmlformats.org/officeDocument/2006/relationships/image" Target="../media/image9.png"/><Relationship Id="Rcf5f9c2e6d814368" Type="http://schemas.openxmlformats.org/officeDocument/2006/relationships/slideLayout" Target="../slideLayouts/slideLayout1.xml"/><Relationship Id="Rd6fa663552a74c0c" Type="http://schemas.openxmlformats.org/officeDocument/2006/relationships/notesSlide" Target="../notesSlides/notesSlide13.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5e5aab9ce9d94ac0"/>
          <a:stretch xmlns:a="http://schemas.openxmlformats.org/drawingml/2006/main"/>
        </p:blipFill>
        <p:spPr>
          <a:xfrm xmlns:a="http://schemas.openxmlformats.org/drawingml/2006/main">
            <a:off x="6350" y="0"/>
            <a:ext cx="12179300" cy="6858000"/>
          </a:xfrm>
          <a:prstGeom xmlns:a="http://schemas.openxmlformats.org/drawingml/2006/main" prst="rect">
            <a:avLst/>
          </a:prstGeom>
        </p:spPr>
      </p:pic>
      <p:sp>
        <p:nvSpPr>
          <p:cNvPr id="2" name="week7-label">
            <a:extLst xmlns:a="http://schemas.openxmlformats.org/drawingml/2006/main">
              <a:ext uri="{FF2B5EF4-FFF2-40B4-BE49-F238E27FC236}">
                <a16:creationId xmlns:a16="http://schemas.microsoft.com/office/drawing/2014/main" id="{2F61F473-3AF0-4342-9C98-E77F6246800F}"/>
              </a:ext>
            </a:extLst>
          </p:cNvPr>
          <p:cNvSpPr>
            <a:spLocks xmlns:a="http://schemas.openxmlformats.org/drawingml/2006/main" noGrp="1"/>
          </p:cNvSpPr>
          <p:nvPr/>
        </p:nvSpPr>
        <p:spPr>
          <a:xfrm xmlns:a="http://schemas.openxmlformats.org/drawingml/2006/main">
            <a:off x="552450" y="4171950"/>
            <a:ext cx="571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275" b="1">
                <a:solidFill>
                  <a:srgbClr val="D88900"/>
                </a:solidFill>
                <a:latin typeface="Calibri"/>
                <a:ea typeface="Calibri"/>
                <a:cs typeface="Calibri"/>
              </a:defRPr>
            </a:pPr>
            <a:r>
              <a:rPr sz="1275" b="1">
                <a:solidFill>
                  <a:srgbClr val="D88900"/>
                </a:solidFill>
                <a:latin typeface="Calibri"/>
                <a:ea typeface="Calibri"/>
                <a:cs typeface="Calibri"/>
              </a:rPr>
              <a:t>WEEK 7 PROTOTYPE PRESENTATION</a:t>
            </a:r>
          </a:p>
        </p:txBody>
      </p:sp>
    </p:spTree>
    <p:extLst>
      <p:ext uri="{BB962C8B-B14F-4D97-AF65-F5344CB8AC3E}">
        <p14:creationId xmlns:p14="http://schemas.microsoft.com/office/powerpoint/2010/main" val="13807446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f831836ee25b4dcb"/>
          <a:stretch xmlns:a="http://schemas.openxmlformats.org/drawingml/2006/main"/>
        </p:blipFill>
        <p:spPr>
          <a:xfrm xmlns:a="http://schemas.openxmlformats.org/drawingml/2006/main">
            <a:off x="6350" y="0"/>
            <a:ext cx="12179300" cy="6858000"/>
          </a:xfrm>
          <a:prstGeom xmlns:a="http://schemas.openxmlformats.org/drawingml/2006/main" prst="rect">
            <a:avLst/>
          </a:prstGeom>
        </p:spPr>
      </p:pic>
      <p:sp>
        <p:nvSpPr>
          <p:cNvPr id="2" name="updated-page-marker-background">
            <a:extLst xmlns:a="http://schemas.openxmlformats.org/drawingml/2006/main">
              <a:ext uri="{FF2B5EF4-FFF2-40B4-BE49-F238E27FC236}">
                <a16:creationId xmlns:a16="http://schemas.microsoft.com/office/drawing/2014/main" id="{7DA7EEDD-61D0-4A4A-8290-EED86B4883BB}"/>
              </a:ext>
            </a:extLst>
          </p:cNvPr>
          <p:cNvSpPr>
            <a:spLocks xmlns:a="http://schemas.openxmlformats.org/drawingml/2006/main" noGrp="1"/>
          </p:cNvSpPr>
          <p:nvPr/>
        </p:nvSpPr>
        <p:spPr>
          <a:xfrm xmlns:a="http://schemas.openxmlformats.org/drawingml/2006/main">
            <a:off x="11144250" y="6467475"/>
            <a:ext cx="971550" cy="381000"/>
          </a:xfrm>
          <a:prstGeom xmlns:a="http://schemas.openxmlformats.org/drawingml/2006/main" prst="rect">
            <a:avLst/>
          </a:prstGeom>
          <a:solidFill xmlns:a="http://schemas.openxmlformats.org/drawingml/2006/main">
            <a:srgbClr val="0C2340"/>
          </a:solidFill>
          <a:ln xmlns:a="http://schemas.openxmlformats.org/drawingml/2006/main" w="0">
            <a:noFill/>
            <a:prstDash val="solid"/>
          </a:ln>
        </p:spPr>
      </p:sp>
      <p:sp>
        <p:nvSpPr>
          <p:cNvPr id="3" name="updated-page-marker">
            <a:extLst xmlns:a="http://schemas.openxmlformats.org/drawingml/2006/main">
              <a:ext uri="{FF2B5EF4-FFF2-40B4-BE49-F238E27FC236}">
                <a16:creationId xmlns:a16="http://schemas.microsoft.com/office/drawing/2014/main" id="{29DAF1BC-8F46-49D1-81A3-C3F5F3545B67}"/>
              </a:ext>
            </a:extLst>
          </p:cNvPr>
          <p:cNvSpPr>
            <a:spLocks xmlns:a="http://schemas.openxmlformats.org/drawingml/2006/main" noGrp="1"/>
          </p:cNvSpPr>
          <p:nvPr/>
        </p:nvSpPr>
        <p:spPr>
          <a:xfrm xmlns:a="http://schemas.openxmlformats.org/drawingml/2006/main">
            <a:off x="11277600" y="6534150"/>
            <a:ext cx="5524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125" b="1">
                <a:solidFill>
                  <a:srgbClr val="D88900"/>
                </a:solidFill>
                <a:latin typeface="Calibri"/>
                <a:ea typeface="Calibri"/>
                <a:cs typeface="Calibri"/>
              </a:defRPr>
            </a:pPr>
            <a:r>
              <a:rPr sz="1125" b="1">
                <a:solidFill>
                  <a:srgbClr val="D88900"/>
                </a:solidFill>
                <a:latin typeface="Calibri"/>
                <a:ea typeface="Calibri"/>
                <a:cs typeface="Calibri"/>
              </a:rPr>
              <a:t>2 / 13</a:t>
            </a:r>
          </a:p>
        </p:txBody>
      </p:sp>
    </p:spTree>
    <p:extLst>
      <p:ext uri="{BB962C8B-B14F-4D97-AF65-F5344CB8AC3E}">
        <p14:creationId xmlns:p14="http://schemas.microsoft.com/office/powerpoint/2010/main" val="85770725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2f3887cb5aeb4845"/>
          <a:stretch xmlns:a="http://schemas.openxmlformats.org/drawingml/2006/main"/>
        </p:blipFill>
        <p:spPr>
          <a:xfrm xmlns:a="http://schemas.openxmlformats.org/drawingml/2006/main">
            <a:off x="6350" y="0"/>
            <a:ext cx="12179300" cy="6858000"/>
          </a:xfrm>
          <a:prstGeom xmlns:a="http://schemas.openxmlformats.org/drawingml/2006/main" prst="rect">
            <a:avLst/>
          </a:prstGeom>
        </p:spPr>
      </p:pic>
      <p:sp>
        <p:nvSpPr>
          <p:cNvPr id="2" name="updated-problem-page-marker-background">
            <a:extLst xmlns:a="http://schemas.openxmlformats.org/drawingml/2006/main">
              <a:ext uri="{FF2B5EF4-FFF2-40B4-BE49-F238E27FC236}">
                <a16:creationId xmlns:a16="http://schemas.microsoft.com/office/drawing/2014/main" id="{DF46F1E6-C2A2-4E60-BACF-4A7544E6AB67}"/>
              </a:ext>
            </a:extLst>
          </p:cNvPr>
          <p:cNvSpPr>
            <a:spLocks xmlns:a="http://schemas.openxmlformats.org/drawingml/2006/main" noGrp="1"/>
          </p:cNvSpPr>
          <p:nvPr/>
        </p:nvSpPr>
        <p:spPr>
          <a:xfrm xmlns:a="http://schemas.openxmlformats.org/drawingml/2006/main">
            <a:off x="11144250" y="6467475"/>
            <a:ext cx="971550" cy="381000"/>
          </a:xfrm>
          <a:prstGeom xmlns:a="http://schemas.openxmlformats.org/drawingml/2006/main" prst="rect">
            <a:avLst/>
          </a:prstGeom>
          <a:solidFill xmlns:a="http://schemas.openxmlformats.org/drawingml/2006/main">
            <a:srgbClr val="0C2340"/>
          </a:solidFill>
          <a:ln xmlns:a="http://schemas.openxmlformats.org/drawingml/2006/main" w="0">
            <a:noFill/>
            <a:prstDash val="solid"/>
          </a:ln>
        </p:spPr>
      </p:sp>
      <p:sp>
        <p:nvSpPr>
          <p:cNvPr id="3" name="updated-problem-page-marker">
            <a:extLst xmlns:a="http://schemas.openxmlformats.org/drawingml/2006/main">
              <a:ext uri="{FF2B5EF4-FFF2-40B4-BE49-F238E27FC236}">
                <a16:creationId xmlns:a16="http://schemas.microsoft.com/office/drawing/2014/main" id="{8D6B2919-CD0E-4933-990A-2A1DAEECDE63}"/>
              </a:ext>
            </a:extLst>
          </p:cNvPr>
          <p:cNvSpPr>
            <a:spLocks xmlns:a="http://schemas.openxmlformats.org/drawingml/2006/main" noGrp="1"/>
          </p:cNvSpPr>
          <p:nvPr/>
        </p:nvSpPr>
        <p:spPr>
          <a:xfrm xmlns:a="http://schemas.openxmlformats.org/drawingml/2006/main">
            <a:off x="11277600" y="6534150"/>
            <a:ext cx="5524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125" b="1">
                <a:solidFill>
                  <a:srgbClr val="D88900"/>
                </a:solidFill>
                <a:latin typeface="Calibri"/>
                <a:ea typeface="Calibri"/>
                <a:cs typeface="Calibri"/>
              </a:defRPr>
            </a:pPr>
            <a:r>
              <a:rPr sz="1125" b="1">
                <a:solidFill>
                  <a:srgbClr val="D88900"/>
                </a:solidFill>
                <a:latin typeface="Calibri"/>
                <a:ea typeface="Calibri"/>
                <a:cs typeface="Calibri"/>
              </a:rPr>
              <a:t>3 / 13</a:t>
            </a:r>
          </a:p>
        </p:txBody>
      </p:sp>
    </p:spTree>
    <p:extLst>
      <p:ext uri="{BB962C8B-B14F-4D97-AF65-F5344CB8AC3E}">
        <p14:creationId xmlns:p14="http://schemas.microsoft.com/office/powerpoint/2010/main" val="1558499706"/>
      </p:ext>
    </p:extLst>
  </p:cSld>
</p:sld>
</file>

<file path=ppt/slides/slide4.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8" name="header-band">
            <a:extLst xmlns:a="http://schemas.openxmlformats.org/drawingml/2006/main">
              <a:ext uri="{FF2B5EF4-FFF2-40B4-BE49-F238E27FC236}">
                <a16:creationId xmlns:a16="http://schemas.microsoft.com/office/drawing/2014/main" id="{047C48DA-C39E-4E04-821C-FCA789105808}"/>
              </a:ext>
            </a:extLst>
          </p:cNvPr>
          <p:cNvSpPr>
            <a:spLocks xmlns:a="http://schemas.openxmlformats.org/drawingml/2006/main" noGrp="1"/>
          </p:cNvSpPr>
          <p:nvPr/>
        </p:nvSpPr>
        <p:spPr>
          <a:xfrm xmlns:a="http://schemas.openxmlformats.org/drawingml/2006/main">
            <a:off x="0" y="0"/>
            <a:ext cx="12192000" cy="1123950"/>
          </a:xfrm>
          <a:prstGeom xmlns:a="http://schemas.openxmlformats.org/drawingml/2006/main" prst="rect">
            <a:avLst/>
          </a:prstGeom>
          <a:solidFill xmlns:a="http://schemas.openxmlformats.org/drawingml/2006/main">
            <a:srgbClr val="0C2340"/>
          </a:solidFill>
          <a:ln xmlns:a="http://schemas.openxmlformats.org/drawingml/2006/main" w="0">
            <a:noFill/>
            <a:prstDash val="solid"/>
          </a:ln>
        </p:spPr>
      </p:sp>
      <p:sp>
        <p:nvSpPr>
          <p:cNvPr id="2" name="header-rule">
            <a:extLst xmlns:a="http://schemas.openxmlformats.org/drawingml/2006/main">
              <a:ext uri="{FF2B5EF4-FFF2-40B4-BE49-F238E27FC236}">
                <a16:creationId xmlns:a16="http://schemas.microsoft.com/office/drawing/2014/main" id="{EB62F318-3639-4465-A1D4-72D73E2407AE}"/>
              </a:ext>
            </a:extLst>
          </p:cNvPr>
          <p:cNvSpPr>
            <a:spLocks xmlns:a="http://schemas.openxmlformats.org/drawingml/2006/main" noGrp="1"/>
          </p:cNvSpPr>
          <p:nvPr/>
        </p:nvSpPr>
        <p:spPr>
          <a:xfrm xmlns:a="http://schemas.openxmlformats.org/drawingml/2006/main">
            <a:off x="0" y="1066800"/>
            <a:ext cx="12192000" cy="57150"/>
          </a:xfrm>
          <a:prstGeom xmlns:a="http://schemas.openxmlformats.org/drawingml/2006/main" prst="rect">
            <a:avLst/>
          </a:prstGeom>
          <a:solidFill xmlns:a="http://schemas.openxmlformats.org/drawingml/2006/main">
            <a:srgbClr val="D88900"/>
          </a:solidFill>
          <a:ln xmlns:a="http://schemas.openxmlformats.org/drawingml/2006/main" w="0">
            <a:noFill/>
            <a:prstDash val="solid"/>
          </a:ln>
        </p:spPr>
      </p:sp>
      <p:sp>
        <p:nvSpPr>
          <p:cNvPr id="3" name="section-label">
            <a:extLst xmlns:a="http://schemas.openxmlformats.org/drawingml/2006/main">
              <a:ext uri="{FF2B5EF4-FFF2-40B4-BE49-F238E27FC236}">
                <a16:creationId xmlns:a16="http://schemas.microsoft.com/office/drawing/2014/main" id="{B36FB971-EF0C-4DC0-AD27-AC43A3416F91}"/>
              </a:ext>
            </a:extLst>
          </p:cNvPr>
          <p:cNvSpPr>
            <a:spLocks xmlns:a="http://schemas.openxmlformats.org/drawingml/2006/main" noGrp="1"/>
          </p:cNvSpPr>
          <p:nvPr/>
        </p:nvSpPr>
        <p:spPr>
          <a:xfrm xmlns:a="http://schemas.openxmlformats.org/drawingml/2006/main">
            <a:off x="552450" y="142875"/>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125" b="1">
                <a:solidFill>
                  <a:srgbClr val="D88900"/>
                </a:solidFill>
                <a:latin typeface="Calibri"/>
                <a:ea typeface="Calibri"/>
                <a:cs typeface="Calibri"/>
              </a:defRPr>
            </a:pPr>
            <a:r>
              <a:rPr sz="1125" b="1">
                <a:solidFill>
                  <a:srgbClr val="D88900"/>
                </a:solidFill>
                <a:latin typeface="Calibri"/>
                <a:ea typeface="Calibri"/>
                <a:cs typeface="Calibri"/>
              </a:rPr>
              <a:t>DELIVERY PLAN</a:t>
            </a:r>
          </a:p>
        </p:txBody>
      </p:sp>
      <p:sp>
        <p:nvSpPr>
          <p:cNvPr id="4" name="slide-title">
            <a:extLst xmlns:a="http://schemas.openxmlformats.org/drawingml/2006/main">
              <a:ext uri="{FF2B5EF4-FFF2-40B4-BE49-F238E27FC236}">
                <a16:creationId xmlns:a16="http://schemas.microsoft.com/office/drawing/2014/main" id="{DB9AD6E7-F32C-49AC-BF93-5C51CD24E22A}"/>
              </a:ext>
            </a:extLst>
          </p:cNvPr>
          <p:cNvSpPr>
            <a:spLocks xmlns:a="http://schemas.openxmlformats.org/drawingml/2006/main" noGrp="1"/>
          </p:cNvSpPr>
          <p:nvPr/>
        </p:nvSpPr>
        <p:spPr>
          <a:xfrm xmlns:a="http://schemas.openxmlformats.org/drawingml/2006/main">
            <a:off x="552450" y="400050"/>
            <a:ext cx="11049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3000" b="1">
                <a:solidFill>
                  <a:srgbClr val="FFFFFF"/>
                </a:solidFill>
                <a:latin typeface="Georgia"/>
                <a:ea typeface="Georgia"/>
                <a:cs typeface="Georgia"/>
              </a:defRPr>
            </a:pPr>
            <a:r>
              <a:rPr sz="3000" b="1">
                <a:solidFill>
                  <a:srgbClr val="FFFFFF"/>
                </a:solidFill>
                <a:latin typeface="Georgia"/>
                <a:ea typeface="Georgia"/>
                <a:cs typeface="Georgia"/>
              </a:rPr>
              <a:t>Project schedule through Week 7</a:t>
            </a:r>
          </a:p>
        </p:txBody>
      </p:sp>
      <p:sp>
        <p:nvSpPr>
          <p:cNvPr id="5" name="footer-band">
            <a:extLst xmlns:a="http://schemas.openxmlformats.org/drawingml/2006/main">
              <a:ext uri="{FF2B5EF4-FFF2-40B4-BE49-F238E27FC236}">
                <a16:creationId xmlns:a16="http://schemas.microsoft.com/office/drawing/2014/main" id="{ED8CAF2F-4F9C-4A2C-B3BD-670C3B2FE084}"/>
              </a:ext>
            </a:extLst>
          </p:cNvPr>
          <p:cNvSpPr>
            <a:spLocks xmlns:a="http://schemas.openxmlformats.org/drawingml/2006/main" noGrp="1"/>
          </p:cNvSpPr>
          <p:nvPr/>
        </p:nvSpPr>
        <p:spPr>
          <a:xfrm xmlns:a="http://schemas.openxmlformats.org/drawingml/2006/main">
            <a:off x="0" y="6457950"/>
            <a:ext cx="12192000" cy="400050"/>
          </a:xfrm>
          <a:prstGeom xmlns:a="http://schemas.openxmlformats.org/drawingml/2006/main" prst="rect">
            <a:avLst/>
          </a:prstGeom>
          <a:solidFill xmlns:a="http://schemas.openxmlformats.org/drawingml/2006/main">
            <a:srgbClr val="0C2340"/>
          </a:solidFill>
          <a:ln xmlns:a="http://schemas.openxmlformats.org/drawingml/2006/main" w="0">
            <a:noFill/>
            <a:prstDash val="solid"/>
          </a:ln>
        </p:spPr>
      </p:sp>
      <p:sp>
        <p:nvSpPr>
          <p:cNvPr id="6" name="page-number">
            <a:extLst xmlns:a="http://schemas.openxmlformats.org/drawingml/2006/main">
              <a:ext uri="{FF2B5EF4-FFF2-40B4-BE49-F238E27FC236}">
                <a16:creationId xmlns:a16="http://schemas.microsoft.com/office/drawing/2014/main" id="{74CBA635-92FC-4D68-88A7-6021E101C905}"/>
              </a:ext>
            </a:extLst>
          </p:cNvPr>
          <p:cNvSpPr>
            <a:spLocks xmlns:a="http://schemas.openxmlformats.org/drawingml/2006/main" noGrp="1"/>
          </p:cNvSpPr>
          <p:nvPr/>
        </p:nvSpPr>
        <p:spPr>
          <a:xfrm xmlns:a="http://schemas.openxmlformats.org/drawingml/2006/main">
            <a:off x="11144250" y="65341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125" b="1">
                <a:solidFill>
                  <a:srgbClr val="D88900"/>
                </a:solidFill>
                <a:latin typeface="Calibri"/>
                <a:ea typeface="Calibri"/>
                <a:cs typeface="Calibri"/>
              </a:defRPr>
            </a:pPr>
            <a:r>
              <a:rPr sz="1125" b="1">
                <a:solidFill>
                  <a:srgbClr val="D88900"/>
                </a:solidFill>
                <a:latin typeface="Calibri"/>
                <a:ea typeface="Calibri"/>
                <a:cs typeface="Calibri"/>
              </a:rPr>
              <a:t>4 / 13</a:t>
            </a:r>
          </a:p>
        </p:txBody>
      </p:sp>
      <p:pic xmlns:a="http://schemas.openxmlformats.org/drawingml/2006/main" xmlns:r="http://schemas.openxmlformats.org/officeDocument/2006/relationships">
        <p:nvPicPr>
          <p:cNvPr id="15" name="" descr="gantt-chart.png"/>
          <p:cNvPicPr>
            <a:picLocks noChangeAspect="1"/>
          </p:cNvPicPr>
          <p:nvPr/>
        </p:nvPicPr>
        <p:blipFill>
          <a:blip r:embed="rId4"/>
          <a:stretch>
            <a:fillRect/>
          </a:stretch>
        </p:blipFill>
        <p:spPr>
          <a:xfrm>
            <a:off x="2462547" y="1322000"/>
            <a:ext cx="7266907" cy="4870000"/>
          </a:xfrm>
          <a:prstGeom prst="rect">
            <a:avLst/>
          </a:prstGeom>
        </p:spPr>
      </p:pic>
    </p:spTree>
    <p:extLst>
      <p:ext uri="{BB962C8B-B14F-4D97-AF65-F5344CB8AC3E}">
        <p14:creationId xmlns:p14="http://schemas.microsoft.com/office/powerpoint/2010/main" val="419829933"/>
      </p:ext>
    </p:extLst>
  </p:cSld>
</p:sld>
</file>

<file path=ppt/slides/slide5.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25" name="header-band">
            <a:extLst xmlns:a="http://schemas.openxmlformats.org/drawingml/2006/main">
              <a:ext uri="{FF2B5EF4-FFF2-40B4-BE49-F238E27FC236}">
                <a16:creationId xmlns:a16="http://schemas.microsoft.com/office/drawing/2014/main" id="{59CF686C-7BEB-49FD-9B1D-02A6F52631B8}"/>
              </a:ext>
            </a:extLst>
          </p:cNvPr>
          <p:cNvSpPr>
            <a:spLocks xmlns:a="http://schemas.openxmlformats.org/drawingml/2006/main" noGrp="1"/>
          </p:cNvSpPr>
          <p:nvPr/>
        </p:nvSpPr>
        <p:spPr>
          <a:xfrm xmlns:a="http://schemas.openxmlformats.org/drawingml/2006/main">
            <a:off x="0" y="0"/>
            <a:ext cx="12192000" cy="1123950"/>
          </a:xfrm>
          <a:prstGeom xmlns:a="http://schemas.openxmlformats.org/drawingml/2006/main" prst="rect">
            <a:avLst/>
          </a:prstGeom>
          <a:solidFill xmlns:a="http://schemas.openxmlformats.org/drawingml/2006/main">
            <a:srgbClr val="0C2340"/>
          </a:solidFill>
          <a:ln xmlns:a="http://schemas.openxmlformats.org/drawingml/2006/main" w="0">
            <a:noFill/>
            <a:prstDash val="solid"/>
          </a:ln>
        </p:spPr>
      </p:sp>
      <p:sp>
        <p:nvSpPr>
          <p:cNvPr id="2" name="header-rule">
            <a:extLst xmlns:a="http://schemas.openxmlformats.org/drawingml/2006/main">
              <a:ext uri="{FF2B5EF4-FFF2-40B4-BE49-F238E27FC236}">
                <a16:creationId xmlns:a16="http://schemas.microsoft.com/office/drawing/2014/main" id="{DFCCFD79-F649-44B6-939A-36542A5AD48F}"/>
              </a:ext>
            </a:extLst>
          </p:cNvPr>
          <p:cNvSpPr>
            <a:spLocks xmlns:a="http://schemas.openxmlformats.org/drawingml/2006/main" noGrp="1"/>
          </p:cNvSpPr>
          <p:nvPr/>
        </p:nvSpPr>
        <p:spPr>
          <a:xfrm xmlns:a="http://schemas.openxmlformats.org/drawingml/2006/main">
            <a:off x="0" y="1066800"/>
            <a:ext cx="12192000" cy="57150"/>
          </a:xfrm>
          <a:prstGeom xmlns:a="http://schemas.openxmlformats.org/drawingml/2006/main" prst="rect">
            <a:avLst/>
          </a:prstGeom>
          <a:solidFill xmlns:a="http://schemas.openxmlformats.org/drawingml/2006/main">
            <a:srgbClr val="D88900"/>
          </a:solidFill>
          <a:ln xmlns:a="http://schemas.openxmlformats.org/drawingml/2006/main" w="0">
            <a:noFill/>
            <a:prstDash val="solid"/>
          </a:ln>
        </p:spPr>
      </p:sp>
      <p:sp>
        <p:nvSpPr>
          <p:cNvPr id="3" name="section-label">
            <a:extLst xmlns:a="http://schemas.openxmlformats.org/drawingml/2006/main">
              <a:ext uri="{FF2B5EF4-FFF2-40B4-BE49-F238E27FC236}">
                <a16:creationId xmlns:a16="http://schemas.microsoft.com/office/drawing/2014/main" id="{453BA874-63CD-4FE0-8FE3-2B16CFE0C9B1}"/>
              </a:ext>
            </a:extLst>
          </p:cNvPr>
          <p:cNvSpPr>
            <a:spLocks xmlns:a="http://schemas.openxmlformats.org/drawingml/2006/main" noGrp="1"/>
          </p:cNvSpPr>
          <p:nvPr/>
        </p:nvSpPr>
        <p:spPr>
          <a:xfrm xmlns:a="http://schemas.openxmlformats.org/drawingml/2006/main">
            <a:off x="552450" y="142875"/>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125" b="1">
                <a:solidFill>
                  <a:srgbClr val="D88900"/>
                </a:solidFill>
                <a:latin typeface="Calibri"/>
                <a:ea typeface="Calibri"/>
                <a:cs typeface="Calibri"/>
              </a:defRPr>
            </a:pPr>
            <a:r>
              <a:rPr sz="1125" b="1">
                <a:solidFill>
                  <a:srgbClr val="D88900"/>
                </a:solidFill>
                <a:latin typeface="Calibri"/>
                <a:ea typeface="Calibri"/>
                <a:cs typeface="Calibri"/>
              </a:rPr>
              <a:t>SYSTEM ARCHITECTURE</a:t>
            </a:r>
          </a:p>
        </p:txBody>
      </p:sp>
      <p:sp>
        <p:nvSpPr>
          <p:cNvPr id="4" name="slide-title">
            <a:extLst xmlns:a="http://schemas.openxmlformats.org/drawingml/2006/main">
              <a:ext uri="{FF2B5EF4-FFF2-40B4-BE49-F238E27FC236}">
                <a16:creationId xmlns:a16="http://schemas.microsoft.com/office/drawing/2014/main" id="{A804AED8-5D72-438F-9444-31DDE8F23515}"/>
              </a:ext>
            </a:extLst>
          </p:cNvPr>
          <p:cNvSpPr>
            <a:spLocks xmlns:a="http://schemas.openxmlformats.org/drawingml/2006/main" noGrp="1"/>
          </p:cNvSpPr>
          <p:nvPr/>
        </p:nvSpPr>
        <p:spPr>
          <a:xfrm xmlns:a="http://schemas.openxmlformats.org/drawingml/2006/main">
            <a:off x="552450" y="400050"/>
            <a:ext cx="11049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3000" b="1">
                <a:solidFill>
                  <a:srgbClr val="FFFFFF"/>
                </a:solidFill>
                <a:latin typeface="Georgia"/>
                <a:ea typeface="Georgia"/>
                <a:cs typeface="Georgia"/>
              </a:defRPr>
            </a:pPr>
            <a:r>
              <a:rPr sz="3000" b="1">
                <a:solidFill>
                  <a:srgbClr val="FFFFFF"/>
                </a:solidFill>
                <a:latin typeface="Georgia"/>
                <a:ea typeface="Georgia"/>
                <a:cs typeface="Georgia"/>
              </a:rPr>
              <a:t>Frontend, backend and data</a:t>
            </a:r>
          </a:p>
        </p:txBody>
      </p:sp>
      <p:sp>
        <p:nvSpPr>
          <p:cNvPr id="5" name="footer-band">
            <a:extLst xmlns:a="http://schemas.openxmlformats.org/drawingml/2006/main">
              <a:ext uri="{FF2B5EF4-FFF2-40B4-BE49-F238E27FC236}">
                <a16:creationId xmlns:a16="http://schemas.microsoft.com/office/drawing/2014/main" id="{22F6D6C0-8E6B-4169-98DE-356A94C36D18}"/>
              </a:ext>
            </a:extLst>
          </p:cNvPr>
          <p:cNvSpPr>
            <a:spLocks xmlns:a="http://schemas.openxmlformats.org/drawingml/2006/main" noGrp="1"/>
          </p:cNvSpPr>
          <p:nvPr/>
        </p:nvSpPr>
        <p:spPr>
          <a:xfrm xmlns:a="http://schemas.openxmlformats.org/drawingml/2006/main">
            <a:off x="0" y="6457950"/>
            <a:ext cx="12192000" cy="400050"/>
          </a:xfrm>
          <a:prstGeom xmlns:a="http://schemas.openxmlformats.org/drawingml/2006/main" prst="rect">
            <a:avLst/>
          </a:prstGeom>
          <a:solidFill xmlns:a="http://schemas.openxmlformats.org/drawingml/2006/main">
            <a:srgbClr val="0C2340"/>
          </a:solidFill>
          <a:ln xmlns:a="http://schemas.openxmlformats.org/drawingml/2006/main" w="0">
            <a:noFill/>
            <a:prstDash val="solid"/>
          </a:ln>
        </p:spPr>
      </p:sp>
      <p:sp>
        <p:nvSpPr>
          <p:cNvPr id="6" name="page-number">
            <a:extLst xmlns:a="http://schemas.openxmlformats.org/drawingml/2006/main">
              <a:ext uri="{FF2B5EF4-FFF2-40B4-BE49-F238E27FC236}">
                <a16:creationId xmlns:a16="http://schemas.microsoft.com/office/drawing/2014/main" id="{042F7BEB-A547-4EEB-BC4D-E2C8C8CD2911}"/>
              </a:ext>
            </a:extLst>
          </p:cNvPr>
          <p:cNvSpPr>
            <a:spLocks xmlns:a="http://schemas.openxmlformats.org/drawingml/2006/main" noGrp="1"/>
          </p:cNvSpPr>
          <p:nvPr/>
        </p:nvSpPr>
        <p:spPr>
          <a:xfrm xmlns:a="http://schemas.openxmlformats.org/drawingml/2006/main">
            <a:off x="11144250" y="65341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125" b="1">
                <a:solidFill>
                  <a:srgbClr val="D88900"/>
                </a:solidFill>
                <a:latin typeface="Calibri"/>
                <a:ea typeface="Calibri"/>
                <a:cs typeface="Calibri"/>
              </a:defRPr>
            </a:pPr>
            <a:r>
              <a:rPr sz="1125" b="1">
                <a:solidFill>
                  <a:srgbClr val="D88900"/>
                </a:solidFill>
                <a:latin typeface="Calibri"/>
                <a:ea typeface="Calibri"/>
                <a:cs typeface="Calibri"/>
              </a:rPr>
              <a:t>5 / 13</a:t>
            </a:r>
          </a:p>
        </p:txBody>
      </p:sp>
      <p:sp>
        <p:nvSpPr>
          <p:cNvPr id="7" name="architecture-summary">
            <a:extLst xmlns:a="http://schemas.openxmlformats.org/drawingml/2006/main">
              <a:ext uri="{FF2B5EF4-FFF2-40B4-BE49-F238E27FC236}">
                <a16:creationId xmlns:a16="http://schemas.microsoft.com/office/drawing/2014/main" id="{3D174E8B-855E-4FE6-A167-CF81C1285CA1}"/>
              </a:ext>
            </a:extLst>
          </p:cNvPr>
          <p:cNvSpPr>
            <a:spLocks xmlns:a="http://schemas.openxmlformats.org/drawingml/2006/main" noGrp="1"/>
          </p:cNvSpPr>
          <p:nvPr/>
        </p:nvSpPr>
        <p:spPr>
          <a:xfrm xmlns:a="http://schemas.openxmlformats.org/drawingml/2006/main">
            <a:off x="590550" y="1304925"/>
            <a:ext cx="11010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875" b="0">
                <a:solidFill>
                  <a:srgbClr val="14263E"/>
                </a:solidFill>
                <a:latin typeface="Calibri"/>
                <a:ea typeface="Calibri"/>
                <a:cs typeface="Calibri"/>
              </a:defRPr>
            </a:pPr>
            <a:r>
              <a:rPr sz="1875" b="0">
                <a:solidFill>
                  <a:srgbClr val="14263E"/>
                </a:solidFill>
                <a:latin typeface="Calibri"/>
                <a:ea typeface="Calibri"/>
                <a:cs typeface="Calibri"/>
              </a:rPr>
              <a:t>DeadlineDesk is one Python/Django web application with server-rendered pages.</a:t>
            </a:r>
          </a:p>
        </p:txBody>
      </p:sp>
      <p:sp>
        <p:nvSpPr>
          <p:cNvPr id="8" name="architecture-row-0">
            <a:extLst xmlns:a="http://schemas.openxmlformats.org/drawingml/2006/main">
              <a:ext uri="{FF2B5EF4-FFF2-40B4-BE49-F238E27FC236}">
                <a16:creationId xmlns:a16="http://schemas.microsoft.com/office/drawing/2014/main" id="{89FA81CB-965C-4F4B-9B0D-71DADB311D66}"/>
              </a:ext>
            </a:extLst>
          </p:cNvPr>
          <p:cNvSpPr>
            <a:spLocks xmlns:a="http://schemas.openxmlformats.org/drawingml/2006/main" noGrp="1"/>
          </p:cNvSpPr>
          <p:nvPr/>
        </p:nvSpPr>
        <p:spPr>
          <a:xfrm xmlns:a="http://schemas.openxmlformats.org/drawingml/2006/main">
            <a:off x="590550" y="1971675"/>
            <a:ext cx="1099185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D6DDE6"/>
            </a:solidFill>
            <a:prstDash val="solid"/>
          </a:ln>
        </p:spPr>
      </p:sp>
      <p:sp>
        <p:nvSpPr>
          <p:cNvPr id="9" name="architecture-accent-0">
            <a:extLst xmlns:a="http://schemas.openxmlformats.org/drawingml/2006/main">
              <a:ext uri="{FF2B5EF4-FFF2-40B4-BE49-F238E27FC236}">
                <a16:creationId xmlns:a16="http://schemas.microsoft.com/office/drawing/2014/main" id="{0135F602-FDA9-49B4-80AD-DF0692E94E95}"/>
              </a:ext>
            </a:extLst>
          </p:cNvPr>
          <p:cNvSpPr>
            <a:spLocks xmlns:a="http://schemas.openxmlformats.org/drawingml/2006/main" noGrp="1"/>
          </p:cNvSpPr>
          <p:nvPr/>
        </p:nvSpPr>
        <p:spPr>
          <a:xfrm xmlns:a="http://schemas.openxmlformats.org/drawingml/2006/main">
            <a:off x="590550" y="1971675"/>
            <a:ext cx="66675" cy="762000"/>
          </a:xfrm>
          <a:prstGeom xmlns:a="http://schemas.openxmlformats.org/drawingml/2006/main" prst="rect">
            <a:avLst/>
          </a:prstGeom>
          <a:solidFill xmlns:a="http://schemas.openxmlformats.org/drawingml/2006/main">
            <a:srgbClr val="D88900"/>
          </a:solidFill>
          <a:ln xmlns:a="http://schemas.openxmlformats.org/drawingml/2006/main" w="0">
            <a:noFill/>
            <a:prstDash val="solid"/>
          </a:ln>
        </p:spPr>
      </p:sp>
      <p:sp>
        <p:nvSpPr>
          <p:cNvPr id="10" name="architecture-label-0">
            <a:extLst xmlns:a="http://schemas.openxmlformats.org/drawingml/2006/main">
              <a:ext uri="{FF2B5EF4-FFF2-40B4-BE49-F238E27FC236}">
                <a16:creationId xmlns:a16="http://schemas.microsoft.com/office/drawing/2014/main" id="{30D37E8C-856A-450C-90DA-CB9F3492C59E}"/>
              </a:ext>
            </a:extLst>
          </p:cNvPr>
          <p:cNvSpPr>
            <a:spLocks xmlns:a="http://schemas.openxmlformats.org/drawingml/2006/main" noGrp="1"/>
          </p:cNvSpPr>
          <p:nvPr/>
        </p:nvSpPr>
        <p:spPr>
          <a:xfrm xmlns:a="http://schemas.openxmlformats.org/drawingml/2006/main">
            <a:off x="857250" y="2057400"/>
            <a:ext cx="2238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1">
                <a:solidFill>
                  <a:srgbClr val="D88900"/>
                </a:solidFill>
                <a:latin typeface="Calibri"/>
                <a:ea typeface="Calibri"/>
                <a:cs typeface="Calibri"/>
              </a:defRPr>
            </a:pPr>
            <a:r>
              <a:rPr sz="1425" b="1">
                <a:solidFill>
                  <a:srgbClr val="D88900"/>
                </a:solidFill>
                <a:latin typeface="Calibri"/>
                <a:ea typeface="Calibri"/>
                <a:cs typeface="Calibri"/>
              </a:rPr>
              <a:t>PRESENTATION</a:t>
            </a:r>
          </a:p>
        </p:txBody>
      </p:sp>
      <p:sp>
        <p:nvSpPr>
          <p:cNvPr id="11" name="architecture-description-0">
            <a:extLst xmlns:a="http://schemas.openxmlformats.org/drawingml/2006/main">
              <a:ext uri="{FF2B5EF4-FFF2-40B4-BE49-F238E27FC236}">
                <a16:creationId xmlns:a16="http://schemas.microsoft.com/office/drawing/2014/main" id="{0423BF73-CA19-47CC-8A76-4A8CE4CECCC6}"/>
              </a:ext>
            </a:extLst>
          </p:cNvPr>
          <p:cNvSpPr>
            <a:spLocks xmlns:a="http://schemas.openxmlformats.org/drawingml/2006/main" noGrp="1"/>
          </p:cNvSpPr>
          <p:nvPr/>
        </p:nvSpPr>
        <p:spPr>
          <a:xfrm xmlns:a="http://schemas.openxmlformats.org/drawingml/2006/main">
            <a:off x="3105150" y="2047875"/>
            <a:ext cx="8239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725" b="0">
                <a:solidFill>
                  <a:srgbClr val="14263E"/>
                </a:solidFill>
                <a:latin typeface="Calibri"/>
                <a:ea typeface="Calibri"/>
                <a:cs typeface="Calibri"/>
              </a:defRPr>
            </a:pPr>
            <a:r>
              <a:rPr sz="1725" b="0">
                <a:solidFill>
                  <a:srgbClr val="14263E"/>
                </a:solidFill>
                <a:latin typeface="Calibri"/>
                <a:ea typeface="Calibri"/>
                <a:cs typeface="Calibri"/>
              </a:rPr>
              <a:t>Django templates, HTML and CSS render role-specific pages and forms.</a:t>
            </a:r>
          </a:p>
        </p:txBody>
      </p:sp>
      <p:sp>
        <p:nvSpPr>
          <p:cNvPr id="12" name="architecture-row-1">
            <a:extLst xmlns:a="http://schemas.openxmlformats.org/drawingml/2006/main">
              <a:ext uri="{FF2B5EF4-FFF2-40B4-BE49-F238E27FC236}">
                <a16:creationId xmlns:a16="http://schemas.microsoft.com/office/drawing/2014/main" id="{EBEBB44A-BD73-4B5A-8200-CABE71D7D2C9}"/>
              </a:ext>
            </a:extLst>
          </p:cNvPr>
          <p:cNvSpPr>
            <a:spLocks xmlns:a="http://schemas.openxmlformats.org/drawingml/2006/main" noGrp="1"/>
          </p:cNvSpPr>
          <p:nvPr/>
        </p:nvSpPr>
        <p:spPr>
          <a:xfrm xmlns:a="http://schemas.openxmlformats.org/drawingml/2006/main">
            <a:off x="590550" y="2914650"/>
            <a:ext cx="1099185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D6DDE6"/>
            </a:solidFill>
            <a:prstDash val="solid"/>
          </a:ln>
        </p:spPr>
      </p:sp>
      <p:sp>
        <p:nvSpPr>
          <p:cNvPr id="13" name="architecture-accent-1">
            <a:extLst xmlns:a="http://schemas.openxmlformats.org/drawingml/2006/main">
              <a:ext uri="{FF2B5EF4-FFF2-40B4-BE49-F238E27FC236}">
                <a16:creationId xmlns:a16="http://schemas.microsoft.com/office/drawing/2014/main" id="{5E969F1B-780D-49B9-9B26-A1B2532634D2}"/>
              </a:ext>
            </a:extLst>
          </p:cNvPr>
          <p:cNvSpPr>
            <a:spLocks xmlns:a="http://schemas.openxmlformats.org/drawingml/2006/main" noGrp="1"/>
          </p:cNvSpPr>
          <p:nvPr/>
        </p:nvSpPr>
        <p:spPr>
          <a:xfrm xmlns:a="http://schemas.openxmlformats.org/drawingml/2006/main">
            <a:off x="590550" y="2914650"/>
            <a:ext cx="66675" cy="762000"/>
          </a:xfrm>
          <a:prstGeom xmlns:a="http://schemas.openxmlformats.org/drawingml/2006/main" prst="rect">
            <a:avLst/>
          </a:prstGeom>
          <a:solidFill xmlns:a="http://schemas.openxmlformats.org/drawingml/2006/main">
            <a:srgbClr val="D88900"/>
          </a:solidFill>
          <a:ln xmlns:a="http://schemas.openxmlformats.org/drawingml/2006/main" w="0">
            <a:noFill/>
            <a:prstDash val="solid"/>
          </a:ln>
        </p:spPr>
      </p:sp>
      <p:sp>
        <p:nvSpPr>
          <p:cNvPr id="14" name="architecture-label-1">
            <a:extLst xmlns:a="http://schemas.openxmlformats.org/drawingml/2006/main">
              <a:ext uri="{FF2B5EF4-FFF2-40B4-BE49-F238E27FC236}">
                <a16:creationId xmlns:a16="http://schemas.microsoft.com/office/drawing/2014/main" id="{DCDF4A7A-24BF-4AB1-9F2D-20F57EB2CE83}"/>
              </a:ext>
            </a:extLst>
          </p:cNvPr>
          <p:cNvSpPr>
            <a:spLocks xmlns:a="http://schemas.openxmlformats.org/drawingml/2006/main" noGrp="1"/>
          </p:cNvSpPr>
          <p:nvPr/>
        </p:nvSpPr>
        <p:spPr>
          <a:xfrm xmlns:a="http://schemas.openxmlformats.org/drawingml/2006/main">
            <a:off x="857250" y="3000375"/>
            <a:ext cx="2238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1">
                <a:solidFill>
                  <a:srgbClr val="D88900"/>
                </a:solidFill>
                <a:latin typeface="Calibri"/>
                <a:ea typeface="Calibri"/>
                <a:cs typeface="Calibri"/>
              </a:defRPr>
            </a:pPr>
            <a:r>
              <a:rPr sz="1425" b="1">
                <a:solidFill>
                  <a:srgbClr val="D88900"/>
                </a:solidFill>
                <a:latin typeface="Calibri"/>
                <a:ea typeface="Calibri"/>
                <a:cs typeface="Calibri"/>
              </a:rPr>
              <a:t>WEB / BACKEND</a:t>
            </a:r>
          </a:p>
        </p:txBody>
      </p:sp>
      <p:sp>
        <p:nvSpPr>
          <p:cNvPr id="15" name="architecture-description-1">
            <a:extLst xmlns:a="http://schemas.openxmlformats.org/drawingml/2006/main">
              <a:ext uri="{FF2B5EF4-FFF2-40B4-BE49-F238E27FC236}">
                <a16:creationId xmlns:a16="http://schemas.microsoft.com/office/drawing/2014/main" id="{654ECB5D-CAA4-442E-9E12-839567373D97}"/>
              </a:ext>
            </a:extLst>
          </p:cNvPr>
          <p:cNvSpPr>
            <a:spLocks xmlns:a="http://schemas.openxmlformats.org/drawingml/2006/main" noGrp="1"/>
          </p:cNvSpPr>
          <p:nvPr/>
        </p:nvSpPr>
        <p:spPr>
          <a:xfrm xmlns:a="http://schemas.openxmlformats.org/drawingml/2006/main">
            <a:off x="3105150" y="2990850"/>
            <a:ext cx="8239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725" b="0">
                <a:solidFill>
                  <a:srgbClr val="14263E"/>
                </a:solidFill>
                <a:latin typeface="Calibri"/>
                <a:ea typeface="Calibri"/>
                <a:cs typeface="Calibri"/>
              </a:defRPr>
            </a:pPr>
            <a:r>
              <a:rPr sz="1725" b="0">
                <a:solidFill>
                  <a:srgbClr val="14263E"/>
                </a:solidFill>
                <a:latin typeface="Calibri"/>
                <a:ea typeface="Calibri"/>
                <a:cs typeface="Calibri"/>
              </a:rPr>
              <a:t>Python views and URL routes handle requests, sessions and role guards.</a:t>
            </a:r>
          </a:p>
        </p:txBody>
      </p:sp>
      <p:sp>
        <p:nvSpPr>
          <p:cNvPr id="16" name="architecture-row-2">
            <a:extLst xmlns:a="http://schemas.openxmlformats.org/drawingml/2006/main">
              <a:ext uri="{FF2B5EF4-FFF2-40B4-BE49-F238E27FC236}">
                <a16:creationId xmlns:a16="http://schemas.microsoft.com/office/drawing/2014/main" id="{667A0C75-3BB3-413E-9BEA-2C2B41E72E51}"/>
              </a:ext>
            </a:extLst>
          </p:cNvPr>
          <p:cNvSpPr>
            <a:spLocks xmlns:a="http://schemas.openxmlformats.org/drawingml/2006/main" noGrp="1"/>
          </p:cNvSpPr>
          <p:nvPr/>
        </p:nvSpPr>
        <p:spPr>
          <a:xfrm xmlns:a="http://schemas.openxmlformats.org/drawingml/2006/main">
            <a:off x="590550" y="3857625"/>
            <a:ext cx="1099185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D6DDE6"/>
            </a:solidFill>
            <a:prstDash val="solid"/>
          </a:ln>
        </p:spPr>
      </p:sp>
      <p:sp>
        <p:nvSpPr>
          <p:cNvPr id="17" name="architecture-accent-2">
            <a:extLst xmlns:a="http://schemas.openxmlformats.org/drawingml/2006/main">
              <a:ext uri="{FF2B5EF4-FFF2-40B4-BE49-F238E27FC236}">
                <a16:creationId xmlns:a16="http://schemas.microsoft.com/office/drawing/2014/main" id="{8C5E8817-BAF6-4A4D-AC6D-7CE148099275}"/>
              </a:ext>
            </a:extLst>
          </p:cNvPr>
          <p:cNvSpPr>
            <a:spLocks xmlns:a="http://schemas.openxmlformats.org/drawingml/2006/main" noGrp="1"/>
          </p:cNvSpPr>
          <p:nvPr/>
        </p:nvSpPr>
        <p:spPr>
          <a:xfrm xmlns:a="http://schemas.openxmlformats.org/drawingml/2006/main">
            <a:off x="590550" y="3857625"/>
            <a:ext cx="66675" cy="762000"/>
          </a:xfrm>
          <a:prstGeom xmlns:a="http://schemas.openxmlformats.org/drawingml/2006/main" prst="rect">
            <a:avLst/>
          </a:prstGeom>
          <a:solidFill xmlns:a="http://schemas.openxmlformats.org/drawingml/2006/main">
            <a:srgbClr val="D88900"/>
          </a:solidFill>
          <a:ln xmlns:a="http://schemas.openxmlformats.org/drawingml/2006/main" w="0">
            <a:noFill/>
            <a:prstDash val="solid"/>
          </a:ln>
        </p:spPr>
      </p:sp>
      <p:sp>
        <p:nvSpPr>
          <p:cNvPr id="18" name="architecture-label-2">
            <a:extLst xmlns:a="http://schemas.openxmlformats.org/drawingml/2006/main">
              <a:ext uri="{FF2B5EF4-FFF2-40B4-BE49-F238E27FC236}">
                <a16:creationId xmlns:a16="http://schemas.microsoft.com/office/drawing/2014/main" id="{3157D867-2C65-4BC1-8599-DA37BD44F60E}"/>
              </a:ext>
            </a:extLst>
          </p:cNvPr>
          <p:cNvSpPr>
            <a:spLocks xmlns:a="http://schemas.openxmlformats.org/drawingml/2006/main" noGrp="1"/>
          </p:cNvSpPr>
          <p:nvPr/>
        </p:nvSpPr>
        <p:spPr>
          <a:xfrm xmlns:a="http://schemas.openxmlformats.org/drawingml/2006/main">
            <a:off x="857250" y="3943350"/>
            <a:ext cx="2238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1">
                <a:solidFill>
                  <a:srgbClr val="D88900"/>
                </a:solidFill>
                <a:latin typeface="Calibri"/>
                <a:ea typeface="Calibri"/>
                <a:cs typeface="Calibri"/>
              </a:defRPr>
            </a:pPr>
            <a:r>
              <a:rPr sz="1425" b="1">
                <a:solidFill>
                  <a:srgbClr val="D88900"/>
                </a:solidFill>
                <a:latin typeface="Calibri"/>
                <a:ea typeface="Calibri"/>
                <a:cs typeface="Calibri"/>
              </a:rPr>
              <a:t>DOMAIN</a:t>
            </a:r>
          </a:p>
        </p:txBody>
      </p:sp>
      <p:sp>
        <p:nvSpPr>
          <p:cNvPr id="19" name="architecture-description-2">
            <a:extLst xmlns:a="http://schemas.openxmlformats.org/drawingml/2006/main">
              <a:ext uri="{FF2B5EF4-FFF2-40B4-BE49-F238E27FC236}">
                <a16:creationId xmlns:a16="http://schemas.microsoft.com/office/drawing/2014/main" id="{7778C97E-4957-406B-8F76-A8479A0D7E6A}"/>
              </a:ext>
            </a:extLst>
          </p:cNvPr>
          <p:cNvSpPr>
            <a:spLocks xmlns:a="http://schemas.openxmlformats.org/drawingml/2006/main" noGrp="1"/>
          </p:cNvSpPr>
          <p:nvPr/>
        </p:nvSpPr>
        <p:spPr>
          <a:xfrm xmlns:a="http://schemas.openxmlformats.org/drawingml/2006/main">
            <a:off x="3105150" y="3933825"/>
            <a:ext cx="8239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725" b="0">
                <a:solidFill>
                  <a:srgbClr val="14263E"/>
                </a:solidFill>
                <a:latin typeface="Calibri"/>
                <a:ea typeface="Calibri"/>
                <a:cs typeface="Calibri"/>
              </a:defRPr>
            </a:pPr>
            <a:r>
              <a:rPr sz="1725" b="0">
                <a:solidFill>
                  <a:srgbClr val="14263E"/>
                </a:solidFill>
                <a:latin typeface="Calibri"/>
                <a:ea typeface="Calibri"/>
                <a:cs typeface="Calibri"/>
              </a:rPr>
              <a:t>Forms and services validate uploads, apply late policies and calculate the similarity stub.</a:t>
            </a:r>
          </a:p>
        </p:txBody>
      </p:sp>
      <p:sp>
        <p:nvSpPr>
          <p:cNvPr id="20" name="architecture-row-3">
            <a:extLst xmlns:a="http://schemas.openxmlformats.org/drawingml/2006/main">
              <a:ext uri="{FF2B5EF4-FFF2-40B4-BE49-F238E27FC236}">
                <a16:creationId xmlns:a16="http://schemas.microsoft.com/office/drawing/2014/main" id="{F699AE0D-91ED-4E1D-A12F-33FBDB6EF4B9}"/>
              </a:ext>
            </a:extLst>
          </p:cNvPr>
          <p:cNvSpPr>
            <a:spLocks xmlns:a="http://schemas.openxmlformats.org/drawingml/2006/main" noGrp="1"/>
          </p:cNvSpPr>
          <p:nvPr/>
        </p:nvSpPr>
        <p:spPr>
          <a:xfrm xmlns:a="http://schemas.openxmlformats.org/drawingml/2006/main">
            <a:off x="590550" y="4800600"/>
            <a:ext cx="1099185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D6DDE6"/>
            </a:solidFill>
            <a:prstDash val="solid"/>
          </a:ln>
        </p:spPr>
      </p:sp>
      <p:sp>
        <p:nvSpPr>
          <p:cNvPr id="21" name="architecture-accent-3">
            <a:extLst xmlns:a="http://schemas.openxmlformats.org/drawingml/2006/main">
              <a:ext uri="{FF2B5EF4-FFF2-40B4-BE49-F238E27FC236}">
                <a16:creationId xmlns:a16="http://schemas.microsoft.com/office/drawing/2014/main" id="{EF68BC2B-35D1-41B3-8984-82E5F7BEDC3F}"/>
              </a:ext>
            </a:extLst>
          </p:cNvPr>
          <p:cNvSpPr>
            <a:spLocks xmlns:a="http://schemas.openxmlformats.org/drawingml/2006/main" noGrp="1"/>
          </p:cNvSpPr>
          <p:nvPr/>
        </p:nvSpPr>
        <p:spPr>
          <a:xfrm xmlns:a="http://schemas.openxmlformats.org/drawingml/2006/main">
            <a:off x="590550" y="4800600"/>
            <a:ext cx="66675" cy="762000"/>
          </a:xfrm>
          <a:prstGeom xmlns:a="http://schemas.openxmlformats.org/drawingml/2006/main" prst="rect">
            <a:avLst/>
          </a:prstGeom>
          <a:solidFill xmlns:a="http://schemas.openxmlformats.org/drawingml/2006/main">
            <a:srgbClr val="D88900"/>
          </a:solidFill>
          <a:ln xmlns:a="http://schemas.openxmlformats.org/drawingml/2006/main" w="0">
            <a:noFill/>
            <a:prstDash val="solid"/>
          </a:ln>
        </p:spPr>
      </p:sp>
      <p:sp>
        <p:nvSpPr>
          <p:cNvPr id="22" name="architecture-label-3">
            <a:extLst xmlns:a="http://schemas.openxmlformats.org/drawingml/2006/main">
              <a:ext uri="{FF2B5EF4-FFF2-40B4-BE49-F238E27FC236}">
                <a16:creationId xmlns:a16="http://schemas.microsoft.com/office/drawing/2014/main" id="{13AB6F5C-8979-45B6-AD18-14A305CD1402}"/>
              </a:ext>
            </a:extLst>
          </p:cNvPr>
          <p:cNvSpPr>
            <a:spLocks xmlns:a="http://schemas.openxmlformats.org/drawingml/2006/main" noGrp="1"/>
          </p:cNvSpPr>
          <p:nvPr/>
        </p:nvSpPr>
        <p:spPr>
          <a:xfrm xmlns:a="http://schemas.openxmlformats.org/drawingml/2006/main">
            <a:off x="857250" y="4886325"/>
            <a:ext cx="2238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1">
                <a:solidFill>
                  <a:srgbClr val="D88900"/>
                </a:solidFill>
                <a:latin typeface="Calibri"/>
                <a:ea typeface="Calibri"/>
                <a:cs typeface="Calibri"/>
              </a:defRPr>
            </a:pPr>
            <a:r>
              <a:rPr sz="1425" b="1">
                <a:solidFill>
                  <a:srgbClr val="D88900"/>
                </a:solidFill>
                <a:latin typeface="Calibri"/>
                <a:ea typeface="Calibri"/>
                <a:cs typeface="Calibri"/>
              </a:rPr>
              <a:t>DATA</a:t>
            </a:r>
          </a:p>
        </p:txBody>
      </p:sp>
      <p:sp>
        <p:nvSpPr>
          <p:cNvPr id="23" name="architecture-description-3">
            <a:extLst xmlns:a="http://schemas.openxmlformats.org/drawingml/2006/main">
              <a:ext uri="{FF2B5EF4-FFF2-40B4-BE49-F238E27FC236}">
                <a16:creationId xmlns:a16="http://schemas.microsoft.com/office/drawing/2014/main" id="{D5DB45F0-11A1-411B-87DE-B2BBE09567B3}"/>
              </a:ext>
            </a:extLst>
          </p:cNvPr>
          <p:cNvSpPr>
            <a:spLocks xmlns:a="http://schemas.openxmlformats.org/drawingml/2006/main" noGrp="1"/>
          </p:cNvSpPr>
          <p:nvPr/>
        </p:nvSpPr>
        <p:spPr>
          <a:xfrm xmlns:a="http://schemas.openxmlformats.org/drawingml/2006/main">
            <a:off x="3105150" y="4876800"/>
            <a:ext cx="8239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725" b="0">
                <a:solidFill>
                  <a:srgbClr val="14263E"/>
                </a:solidFill>
                <a:latin typeface="Calibri"/>
                <a:ea typeface="Calibri"/>
                <a:cs typeface="Calibri"/>
              </a:defRPr>
            </a:pPr>
            <a:r>
              <a:rPr sz="1725" b="0">
                <a:solidFill>
                  <a:srgbClr val="14263E"/>
                </a:solidFill>
                <a:latin typeface="Calibri"/>
                <a:ea typeface="Calibri"/>
                <a:cs typeface="Calibri"/>
              </a:rPr>
              <a:t>Django ORM stores users, rounds, checklists, assignments, submissions, grades and audit events in SQLite.</a:t>
            </a:r>
          </a:p>
        </p:txBody>
      </p:sp>
      <p:sp>
        <p:nvSpPr>
          <p:cNvPr id="24" name="architecture-footnote">
            <a:extLst xmlns:a="http://schemas.openxmlformats.org/drawingml/2006/main">
              <a:ext uri="{FF2B5EF4-FFF2-40B4-BE49-F238E27FC236}">
                <a16:creationId xmlns:a16="http://schemas.microsoft.com/office/drawing/2014/main" id="{FE9B546E-DB16-47DB-A530-AF629B4B7C77}"/>
              </a:ext>
            </a:extLst>
          </p:cNvPr>
          <p:cNvSpPr>
            <a:spLocks xmlns:a="http://schemas.openxmlformats.org/drawingml/2006/main" noGrp="1"/>
          </p:cNvSpPr>
          <p:nvPr/>
        </p:nvSpPr>
        <p:spPr>
          <a:xfrm xmlns:a="http://schemas.openxmlformats.org/drawingml/2006/main">
            <a:off x="609600" y="58102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0">
                <a:solidFill>
                  <a:srgbClr val="566579"/>
                </a:solidFill>
                <a:latin typeface="Calibri"/>
                <a:ea typeface="Calibri"/>
                <a:cs typeface="Calibri"/>
              </a:defRPr>
            </a:pPr>
            <a:r>
              <a:rPr sz="1350" b="0">
                <a:solidFill>
                  <a:srgbClr val="566579"/>
                </a:solidFill>
                <a:latin typeface="Calibri"/>
                <a:ea typeface="Calibri"/>
                <a:cs typeface="Calibri"/>
              </a:rPr>
              <a:t>No separate React frontend or REST backend is part of the Week 7 prototype.</a:t>
            </a:r>
          </a:p>
        </p:txBody>
      </p:sp>
    </p:spTree>
    <p:extLst>
      <p:ext uri="{BB962C8B-B14F-4D97-AF65-F5344CB8AC3E}">
        <p14:creationId xmlns:p14="http://schemas.microsoft.com/office/powerpoint/2010/main" val="1300681602"/>
      </p:ext>
    </p:extLst>
  </p:cSld>
</p:sld>
</file>

<file path=ppt/slides/slide6.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8" name="header-band">
            <a:extLst xmlns:a="http://schemas.openxmlformats.org/drawingml/2006/main">
              <a:ext uri="{FF2B5EF4-FFF2-40B4-BE49-F238E27FC236}">
                <a16:creationId xmlns:a16="http://schemas.microsoft.com/office/drawing/2014/main" id="{5C9397AB-1B7B-4AF8-B622-F0B292512646}"/>
              </a:ext>
            </a:extLst>
          </p:cNvPr>
          <p:cNvSpPr>
            <a:spLocks xmlns:a="http://schemas.openxmlformats.org/drawingml/2006/main" noGrp="1"/>
          </p:cNvSpPr>
          <p:nvPr/>
        </p:nvSpPr>
        <p:spPr>
          <a:xfrm xmlns:a="http://schemas.openxmlformats.org/drawingml/2006/main">
            <a:off x="0" y="0"/>
            <a:ext cx="12192000" cy="1123950"/>
          </a:xfrm>
          <a:prstGeom xmlns:a="http://schemas.openxmlformats.org/drawingml/2006/main" prst="rect">
            <a:avLst/>
          </a:prstGeom>
          <a:solidFill xmlns:a="http://schemas.openxmlformats.org/drawingml/2006/main">
            <a:srgbClr val="0C2340"/>
          </a:solidFill>
          <a:ln xmlns:a="http://schemas.openxmlformats.org/drawingml/2006/main" w="0">
            <a:noFill/>
            <a:prstDash val="solid"/>
          </a:ln>
        </p:spPr>
      </p:sp>
      <p:sp>
        <p:nvSpPr>
          <p:cNvPr id="2" name="header-rule">
            <a:extLst xmlns:a="http://schemas.openxmlformats.org/drawingml/2006/main">
              <a:ext uri="{FF2B5EF4-FFF2-40B4-BE49-F238E27FC236}">
                <a16:creationId xmlns:a16="http://schemas.microsoft.com/office/drawing/2014/main" id="{0E5CF537-9431-4BDB-9115-C1A3AF014B36}"/>
              </a:ext>
            </a:extLst>
          </p:cNvPr>
          <p:cNvSpPr>
            <a:spLocks xmlns:a="http://schemas.openxmlformats.org/drawingml/2006/main" noGrp="1"/>
          </p:cNvSpPr>
          <p:nvPr/>
        </p:nvSpPr>
        <p:spPr>
          <a:xfrm xmlns:a="http://schemas.openxmlformats.org/drawingml/2006/main">
            <a:off x="0" y="1066800"/>
            <a:ext cx="12192000" cy="57150"/>
          </a:xfrm>
          <a:prstGeom xmlns:a="http://schemas.openxmlformats.org/drawingml/2006/main" prst="rect">
            <a:avLst/>
          </a:prstGeom>
          <a:solidFill xmlns:a="http://schemas.openxmlformats.org/drawingml/2006/main">
            <a:srgbClr val="D88900"/>
          </a:solidFill>
          <a:ln xmlns:a="http://schemas.openxmlformats.org/drawingml/2006/main" w="0">
            <a:noFill/>
            <a:prstDash val="solid"/>
          </a:ln>
        </p:spPr>
      </p:sp>
      <p:sp>
        <p:nvSpPr>
          <p:cNvPr id="3" name="section-label">
            <a:extLst xmlns:a="http://schemas.openxmlformats.org/drawingml/2006/main">
              <a:ext uri="{FF2B5EF4-FFF2-40B4-BE49-F238E27FC236}">
                <a16:creationId xmlns:a16="http://schemas.microsoft.com/office/drawing/2014/main" id="{3E6130B3-EC1B-450E-8ECF-B889EA0791CD}"/>
              </a:ext>
            </a:extLst>
          </p:cNvPr>
          <p:cNvSpPr>
            <a:spLocks xmlns:a="http://schemas.openxmlformats.org/drawingml/2006/main" noGrp="1"/>
          </p:cNvSpPr>
          <p:nvPr/>
        </p:nvSpPr>
        <p:spPr>
          <a:xfrm xmlns:a="http://schemas.openxmlformats.org/drawingml/2006/main">
            <a:off x="552450" y="142875"/>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125" b="1">
                <a:solidFill>
                  <a:srgbClr val="D88900"/>
                </a:solidFill>
                <a:latin typeface="Calibri"/>
                <a:ea typeface="Calibri"/>
                <a:cs typeface="Calibri"/>
              </a:defRPr>
            </a:pPr>
            <a:r>
              <a:rPr sz="1125" b="1">
                <a:solidFill>
                  <a:srgbClr val="D88900"/>
                </a:solidFill>
                <a:latin typeface="Calibri"/>
                <a:ea typeface="Calibri"/>
                <a:cs typeface="Calibri"/>
              </a:rPr>
              <a:t>ACTIVITY DIAGRAM</a:t>
            </a:r>
          </a:p>
        </p:txBody>
      </p:sp>
      <p:sp>
        <p:nvSpPr>
          <p:cNvPr id="4" name="slide-title">
            <a:extLst xmlns:a="http://schemas.openxmlformats.org/drawingml/2006/main">
              <a:ext uri="{FF2B5EF4-FFF2-40B4-BE49-F238E27FC236}">
                <a16:creationId xmlns:a16="http://schemas.microsoft.com/office/drawing/2014/main" id="{C0721A1F-2C45-47E7-9A1A-BD6027A94584}"/>
              </a:ext>
            </a:extLst>
          </p:cNvPr>
          <p:cNvSpPr>
            <a:spLocks xmlns:a="http://schemas.openxmlformats.org/drawingml/2006/main" noGrp="1"/>
          </p:cNvSpPr>
          <p:nvPr/>
        </p:nvSpPr>
        <p:spPr>
          <a:xfrm xmlns:a="http://schemas.openxmlformats.org/drawingml/2006/main">
            <a:off x="552450" y="400050"/>
            <a:ext cx="11049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3000" b="1">
                <a:solidFill>
                  <a:srgbClr val="FFFFFF"/>
                </a:solidFill>
                <a:latin typeface="Georgia"/>
                <a:ea typeface="Georgia"/>
                <a:cs typeface="Georgia"/>
              </a:defRPr>
            </a:pPr>
            <a:r>
              <a:rPr sz="3000" b="1">
                <a:solidFill>
                  <a:srgbClr val="FFFFFF"/>
                </a:solidFill>
                <a:latin typeface="Georgia"/>
                <a:ea typeface="Georgia"/>
                <a:cs typeface="Georgia"/>
              </a:rPr>
              <a:t>Placement readiness workflow</a:t>
            </a:r>
          </a:p>
        </p:txBody>
      </p:sp>
      <p:sp>
        <p:nvSpPr>
          <p:cNvPr id="5" name="footer-band">
            <a:extLst xmlns:a="http://schemas.openxmlformats.org/drawingml/2006/main">
              <a:ext uri="{FF2B5EF4-FFF2-40B4-BE49-F238E27FC236}">
                <a16:creationId xmlns:a16="http://schemas.microsoft.com/office/drawing/2014/main" id="{E9DF1714-2FD5-48DD-A0A5-801F89260720}"/>
              </a:ext>
            </a:extLst>
          </p:cNvPr>
          <p:cNvSpPr>
            <a:spLocks xmlns:a="http://schemas.openxmlformats.org/drawingml/2006/main" noGrp="1"/>
          </p:cNvSpPr>
          <p:nvPr/>
        </p:nvSpPr>
        <p:spPr>
          <a:xfrm xmlns:a="http://schemas.openxmlformats.org/drawingml/2006/main">
            <a:off x="0" y="6457950"/>
            <a:ext cx="12192000" cy="400050"/>
          </a:xfrm>
          <a:prstGeom xmlns:a="http://schemas.openxmlformats.org/drawingml/2006/main" prst="rect">
            <a:avLst/>
          </a:prstGeom>
          <a:solidFill xmlns:a="http://schemas.openxmlformats.org/drawingml/2006/main">
            <a:srgbClr val="0C2340"/>
          </a:solidFill>
          <a:ln xmlns:a="http://schemas.openxmlformats.org/drawingml/2006/main" w="0">
            <a:noFill/>
            <a:prstDash val="solid"/>
          </a:ln>
        </p:spPr>
      </p:sp>
      <p:sp>
        <p:nvSpPr>
          <p:cNvPr id="6" name="page-number">
            <a:extLst xmlns:a="http://schemas.openxmlformats.org/drawingml/2006/main">
              <a:ext uri="{FF2B5EF4-FFF2-40B4-BE49-F238E27FC236}">
                <a16:creationId xmlns:a16="http://schemas.microsoft.com/office/drawing/2014/main" id="{783B5A6F-98FA-495C-A3F3-84A5718AC020}"/>
              </a:ext>
            </a:extLst>
          </p:cNvPr>
          <p:cNvSpPr>
            <a:spLocks xmlns:a="http://schemas.openxmlformats.org/drawingml/2006/main" noGrp="1"/>
          </p:cNvSpPr>
          <p:nvPr/>
        </p:nvSpPr>
        <p:spPr>
          <a:xfrm xmlns:a="http://schemas.openxmlformats.org/drawingml/2006/main">
            <a:off x="11144250" y="65341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125" b="1">
                <a:solidFill>
                  <a:srgbClr val="D88900"/>
                </a:solidFill>
                <a:latin typeface="Calibri"/>
                <a:ea typeface="Calibri"/>
                <a:cs typeface="Calibri"/>
              </a:defRPr>
            </a:pPr>
            <a:r>
              <a:rPr sz="1125" b="1">
                <a:solidFill>
                  <a:srgbClr val="D88900"/>
                </a:solidFill>
                <a:latin typeface="Calibri"/>
                <a:ea typeface="Calibri"/>
                <a:cs typeface="Calibri"/>
              </a:rPr>
              <a:t>6 / 13</a:t>
            </a:r>
          </a:p>
        </p:txBody>
      </p:sp>
      <p:pic xmlns:a="http://schemas.openxmlformats.org/drawingml/2006/main" xmlns:r="http://schemas.openxmlformats.org/officeDocument/2006/relationships">
        <p:nvPicPr>
          <p:cNvPr id="15" name="" descr="activity-placement.png"/>
          <p:cNvPicPr>
            <a:picLocks noChangeAspect="1"/>
          </p:cNvPicPr>
          <p:nvPr/>
        </p:nvPicPr>
        <p:blipFill>
          <a:blip r:embed="rId4"/>
          <a:stretch>
            <a:fillRect/>
          </a:stretch>
        </p:blipFill>
        <p:spPr>
          <a:xfrm>
            <a:off x="523875" y="1332951"/>
            <a:ext cx="11144250" cy="4848099"/>
          </a:xfrm>
          <a:prstGeom prst="rect">
            <a:avLst/>
          </a:prstGeom>
        </p:spPr>
      </p:pic>
    </p:spTree>
    <p:extLst>
      <p:ext uri="{BB962C8B-B14F-4D97-AF65-F5344CB8AC3E}">
        <p14:creationId xmlns:p14="http://schemas.microsoft.com/office/powerpoint/2010/main" val="1967017794"/>
      </p:ext>
    </p:extLst>
  </p:cSld>
</p:sld>
</file>

<file path=ppt/slides/slide7.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8" name="header-band">
            <a:extLst xmlns:a="http://schemas.openxmlformats.org/drawingml/2006/main">
              <a:ext uri="{FF2B5EF4-FFF2-40B4-BE49-F238E27FC236}">
                <a16:creationId xmlns:a16="http://schemas.microsoft.com/office/drawing/2014/main" id="{E937CD49-C8C9-44AC-B2B2-D897D9815AAA}"/>
              </a:ext>
            </a:extLst>
          </p:cNvPr>
          <p:cNvSpPr>
            <a:spLocks xmlns:a="http://schemas.openxmlformats.org/drawingml/2006/main" noGrp="1"/>
          </p:cNvSpPr>
          <p:nvPr/>
        </p:nvSpPr>
        <p:spPr>
          <a:xfrm xmlns:a="http://schemas.openxmlformats.org/drawingml/2006/main">
            <a:off x="0" y="0"/>
            <a:ext cx="12192000" cy="1123950"/>
          </a:xfrm>
          <a:prstGeom xmlns:a="http://schemas.openxmlformats.org/drawingml/2006/main" prst="rect">
            <a:avLst/>
          </a:prstGeom>
          <a:solidFill xmlns:a="http://schemas.openxmlformats.org/drawingml/2006/main">
            <a:srgbClr val="0C2340"/>
          </a:solidFill>
          <a:ln xmlns:a="http://schemas.openxmlformats.org/drawingml/2006/main" w="0">
            <a:noFill/>
            <a:prstDash val="solid"/>
          </a:ln>
        </p:spPr>
      </p:sp>
      <p:sp>
        <p:nvSpPr>
          <p:cNvPr id="2" name="header-rule">
            <a:extLst xmlns:a="http://schemas.openxmlformats.org/drawingml/2006/main">
              <a:ext uri="{FF2B5EF4-FFF2-40B4-BE49-F238E27FC236}">
                <a16:creationId xmlns:a16="http://schemas.microsoft.com/office/drawing/2014/main" id="{50774527-CFB2-4264-8C37-3B0C8AC39FA3}"/>
              </a:ext>
            </a:extLst>
          </p:cNvPr>
          <p:cNvSpPr>
            <a:spLocks xmlns:a="http://schemas.openxmlformats.org/drawingml/2006/main" noGrp="1"/>
          </p:cNvSpPr>
          <p:nvPr/>
        </p:nvSpPr>
        <p:spPr>
          <a:xfrm xmlns:a="http://schemas.openxmlformats.org/drawingml/2006/main">
            <a:off x="0" y="1066800"/>
            <a:ext cx="12192000" cy="57150"/>
          </a:xfrm>
          <a:prstGeom xmlns:a="http://schemas.openxmlformats.org/drawingml/2006/main" prst="rect">
            <a:avLst/>
          </a:prstGeom>
          <a:solidFill xmlns:a="http://schemas.openxmlformats.org/drawingml/2006/main">
            <a:srgbClr val="D88900"/>
          </a:solidFill>
          <a:ln xmlns:a="http://schemas.openxmlformats.org/drawingml/2006/main" w="0">
            <a:noFill/>
            <a:prstDash val="solid"/>
          </a:ln>
        </p:spPr>
      </p:sp>
      <p:sp>
        <p:nvSpPr>
          <p:cNvPr id="3" name="section-label">
            <a:extLst xmlns:a="http://schemas.openxmlformats.org/drawingml/2006/main">
              <a:ext uri="{FF2B5EF4-FFF2-40B4-BE49-F238E27FC236}">
                <a16:creationId xmlns:a16="http://schemas.microsoft.com/office/drawing/2014/main" id="{EA6C8E67-002B-44B8-85FD-0A53C603DF11}"/>
              </a:ext>
            </a:extLst>
          </p:cNvPr>
          <p:cNvSpPr>
            <a:spLocks xmlns:a="http://schemas.openxmlformats.org/drawingml/2006/main" noGrp="1"/>
          </p:cNvSpPr>
          <p:nvPr/>
        </p:nvSpPr>
        <p:spPr>
          <a:xfrm xmlns:a="http://schemas.openxmlformats.org/drawingml/2006/main">
            <a:off x="552450" y="142875"/>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125" b="1">
                <a:solidFill>
                  <a:srgbClr val="D88900"/>
                </a:solidFill>
                <a:latin typeface="Calibri"/>
                <a:ea typeface="Calibri"/>
                <a:cs typeface="Calibri"/>
              </a:defRPr>
            </a:pPr>
            <a:r>
              <a:rPr sz="1125" b="1">
                <a:solidFill>
                  <a:srgbClr val="D88900"/>
                </a:solidFill>
                <a:latin typeface="Calibri"/>
                <a:ea typeface="Calibri"/>
                <a:cs typeface="Calibri"/>
              </a:rPr>
              <a:t>ACTIVITY DIAGRAM</a:t>
            </a:r>
          </a:p>
        </p:txBody>
      </p:sp>
      <p:sp>
        <p:nvSpPr>
          <p:cNvPr id="4" name="slide-title">
            <a:extLst xmlns:a="http://schemas.openxmlformats.org/drawingml/2006/main">
              <a:ext uri="{FF2B5EF4-FFF2-40B4-BE49-F238E27FC236}">
                <a16:creationId xmlns:a16="http://schemas.microsoft.com/office/drawing/2014/main" id="{70ABF461-C8FA-40CD-A4E6-A09BB6B53901}"/>
              </a:ext>
            </a:extLst>
          </p:cNvPr>
          <p:cNvSpPr>
            <a:spLocks xmlns:a="http://schemas.openxmlformats.org/drawingml/2006/main" noGrp="1"/>
          </p:cNvSpPr>
          <p:nvPr/>
        </p:nvSpPr>
        <p:spPr>
          <a:xfrm xmlns:a="http://schemas.openxmlformats.org/drawingml/2006/main">
            <a:off x="552450" y="400050"/>
            <a:ext cx="11049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3000" b="1">
                <a:solidFill>
                  <a:srgbClr val="FFFFFF"/>
                </a:solidFill>
                <a:latin typeface="Georgia"/>
                <a:ea typeface="Georgia"/>
                <a:cs typeface="Georgia"/>
              </a:defRPr>
            </a:pPr>
            <a:r>
              <a:rPr sz="3000" b="1">
                <a:solidFill>
                  <a:srgbClr val="FFFFFF"/>
                </a:solidFill>
                <a:latin typeface="Georgia"/>
                <a:ea typeface="Georgia"/>
                <a:cs typeface="Georgia"/>
              </a:rPr>
              <a:t>Academic submission and grading</a:t>
            </a:r>
          </a:p>
        </p:txBody>
      </p:sp>
      <p:sp>
        <p:nvSpPr>
          <p:cNvPr id="5" name="footer-band">
            <a:extLst xmlns:a="http://schemas.openxmlformats.org/drawingml/2006/main">
              <a:ext uri="{FF2B5EF4-FFF2-40B4-BE49-F238E27FC236}">
                <a16:creationId xmlns:a16="http://schemas.microsoft.com/office/drawing/2014/main" id="{DC2FB1F3-5AC3-4477-9E2D-B215658FCF02}"/>
              </a:ext>
            </a:extLst>
          </p:cNvPr>
          <p:cNvSpPr>
            <a:spLocks xmlns:a="http://schemas.openxmlformats.org/drawingml/2006/main" noGrp="1"/>
          </p:cNvSpPr>
          <p:nvPr/>
        </p:nvSpPr>
        <p:spPr>
          <a:xfrm xmlns:a="http://schemas.openxmlformats.org/drawingml/2006/main">
            <a:off x="0" y="6457950"/>
            <a:ext cx="12192000" cy="400050"/>
          </a:xfrm>
          <a:prstGeom xmlns:a="http://schemas.openxmlformats.org/drawingml/2006/main" prst="rect">
            <a:avLst/>
          </a:prstGeom>
          <a:solidFill xmlns:a="http://schemas.openxmlformats.org/drawingml/2006/main">
            <a:srgbClr val="0C2340"/>
          </a:solidFill>
          <a:ln xmlns:a="http://schemas.openxmlformats.org/drawingml/2006/main" w="0">
            <a:noFill/>
            <a:prstDash val="solid"/>
          </a:ln>
        </p:spPr>
      </p:sp>
      <p:sp>
        <p:nvSpPr>
          <p:cNvPr id="6" name="page-number">
            <a:extLst xmlns:a="http://schemas.openxmlformats.org/drawingml/2006/main">
              <a:ext uri="{FF2B5EF4-FFF2-40B4-BE49-F238E27FC236}">
                <a16:creationId xmlns:a16="http://schemas.microsoft.com/office/drawing/2014/main" id="{AA1118C1-8902-4376-B321-F2B9DEF0413F}"/>
              </a:ext>
            </a:extLst>
          </p:cNvPr>
          <p:cNvSpPr>
            <a:spLocks xmlns:a="http://schemas.openxmlformats.org/drawingml/2006/main" noGrp="1"/>
          </p:cNvSpPr>
          <p:nvPr/>
        </p:nvSpPr>
        <p:spPr>
          <a:xfrm xmlns:a="http://schemas.openxmlformats.org/drawingml/2006/main">
            <a:off x="11144250" y="65341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125" b="1">
                <a:solidFill>
                  <a:srgbClr val="D88900"/>
                </a:solidFill>
                <a:latin typeface="Calibri"/>
                <a:ea typeface="Calibri"/>
                <a:cs typeface="Calibri"/>
              </a:defRPr>
            </a:pPr>
            <a:r>
              <a:rPr sz="1125" b="1">
                <a:solidFill>
                  <a:srgbClr val="D88900"/>
                </a:solidFill>
                <a:latin typeface="Calibri"/>
                <a:ea typeface="Calibri"/>
                <a:cs typeface="Calibri"/>
              </a:rPr>
              <a:t>7 / 13</a:t>
            </a:r>
          </a:p>
        </p:txBody>
      </p:sp>
      <p:pic xmlns:a="http://schemas.openxmlformats.org/drawingml/2006/main" xmlns:r="http://schemas.openxmlformats.org/officeDocument/2006/relationships">
        <p:nvPicPr>
          <p:cNvPr id="15" name="" descr="activity-academic.png"/>
          <p:cNvPicPr>
            <a:picLocks noChangeAspect="1"/>
          </p:cNvPicPr>
          <p:nvPr/>
        </p:nvPicPr>
        <p:blipFill>
          <a:blip r:embed="rId4"/>
          <a:stretch>
            <a:fillRect/>
          </a:stretch>
        </p:blipFill>
        <p:spPr>
          <a:xfrm>
            <a:off x="523875" y="1620902"/>
            <a:ext cx="11144250" cy="4272196"/>
          </a:xfrm>
          <a:prstGeom prst="rect">
            <a:avLst/>
          </a:prstGeom>
        </p:spPr>
      </p:pic>
    </p:spTree>
    <p:extLst>
      <p:ext uri="{BB962C8B-B14F-4D97-AF65-F5344CB8AC3E}">
        <p14:creationId xmlns:p14="http://schemas.microsoft.com/office/powerpoint/2010/main" val="820003600"/>
      </p:ext>
    </p:extLst>
  </p:cSld>
</p:sld>
</file>

<file path=ppt/slides/slide8.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8" name="header-band">
            <a:extLst xmlns:a="http://schemas.openxmlformats.org/drawingml/2006/main">
              <a:ext uri="{FF2B5EF4-FFF2-40B4-BE49-F238E27FC236}">
                <a16:creationId xmlns:a16="http://schemas.microsoft.com/office/drawing/2014/main" id="{0B03F762-7730-43F8-8E40-79BFE0AE05E0}"/>
              </a:ext>
            </a:extLst>
          </p:cNvPr>
          <p:cNvSpPr>
            <a:spLocks xmlns:a="http://schemas.openxmlformats.org/drawingml/2006/main" noGrp="1"/>
          </p:cNvSpPr>
          <p:nvPr/>
        </p:nvSpPr>
        <p:spPr>
          <a:xfrm xmlns:a="http://schemas.openxmlformats.org/drawingml/2006/main">
            <a:off x="0" y="0"/>
            <a:ext cx="12192000" cy="1123950"/>
          </a:xfrm>
          <a:prstGeom xmlns:a="http://schemas.openxmlformats.org/drawingml/2006/main" prst="rect">
            <a:avLst/>
          </a:prstGeom>
          <a:solidFill xmlns:a="http://schemas.openxmlformats.org/drawingml/2006/main">
            <a:srgbClr val="0C2340"/>
          </a:solidFill>
          <a:ln xmlns:a="http://schemas.openxmlformats.org/drawingml/2006/main" w="0">
            <a:noFill/>
            <a:prstDash val="solid"/>
          </a:ln>
        </p:spPr>
      </p:sp>
      <p:sp>
        <p:nvSpPr>
          <p:cNvPr id="2" name="header-rule">
            <a:extLst xmlns:a="http://schemas.openxmlformats.org/drawingml/2006/main">
              <a:ext uri="{FF2B5EF4-FFF2-40B4-BE49-F238E27FC236}">
                <a16:creationId xmlns:a16="http://schemas.microsoft.com/office/drawing/2014/main" id="{6FCC336F-5B5E-4D43-BF53-6DC022C8C541}"/>
              </a:ext>
            </a:extLst>
          </p:cNvPr>
          <p:cNvSpPr>
            <a:spLocks xmlns:a="http://schemas.openxmlformats.org/drawingml/2006/main" noGrp="1"/>
          </p:cNvSpPr>
          <p:nvPr/>
        </p:nvSpPr>
        <p:spPr>
          <a:xfrm xmlns:a="http://schemas.openxmlformats.org/drawingml/2006/main">
            <a:off x="0" y="1066800"/>
            <a:ext cx="12192000" cy="57150"/>
          </a:xfrm>
          <a:prstGeom xmlns:a="http://schemas.openxmlformats.org/drawingml/2006/main" prst="rect">
            <a:avLst/>
          </a:prstGeom>
          <a:solidFill xmlns:a="http://schemas.openxmlformats.org/drawingml/2006/main">
            <a:srgbClr val="D88900"/>
          </a:solidFill>
          <a:ln xmlns:a="http://schemas.openxmlformats.org/drawingml/2006/main" w="0">
            <a:noFill/>
            <a:prstDash val="solid"/>
          </a:ln>
        </p:spPr>
      </p:sp>
      <p:sp>
        <p:nvSpPr>
          <p:cNvPr id="3" name="section-label">
            <a:extLst xmlns:a="http://schemas.openxmlformats.org/drawingml/2006/main">
              <a:ext uri="{FF2B5EF4-FFF2-40B4-BE49-F238E27FC236}">
                <a16:creationId xmlns:a16="http://schemas.microsoft.com/office/drawing/2014/main" id="{DF74DFC5-D1CE-4281-8817-1286366193A4}"/>
              </a:ext>
            </a:extLst>
          </p:cNvPr>
          <p:cNvSpPr>
            <a:spLocks xmlns:a="http://schemas.openxmlformats.org/drawingml/2006/main" noGrp="1"/>
          </p:cNvSpPr>
          <p:nvPr/>
        </p:nvSpPr>
        <p:spPr>
          <a:xfrm xmlns:a="http://schemas.openxmlformats.org/drawingml/2006/main">
            <a:off x="552450" y="142875"/>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125" b="1">
                <a:solidFill>
                  <a:srgbClr val="D88900"/>
                </a:solidFill>
                <a:latin typeface="Calibri"/>
                <a:ea typeface="Calibri"/>
                <a:cs typeface="Calibri"/>
              </a:defRPr>
            </a:pPr>
            <a:r>
              <a:rPr sz="1125" b="1">
                <a:solidFill>
                  <a:srgbClr val="D88900"/>
                </a:solidFill>
                <a:latin typeface="Calibri"/>
                <a:ea typeface="Calibri"/>
                <a:cs typeface="Calibri"/>
              </a:rPr>
              <a:t>ENTITY-RELATIONSHIP DIAGRAM</a:t>
            </a:r>
          </a:p>
        </p:txBody>
      </p:sp>
      <p:sp>
        <p:nvSpPr>
          <p:cNvPr id="4" name="slide-title">
            <a:extLst xmlns:a="http://schemas.openxmlformats.org/drawingml/2006/main">
              <a:ext uri="{FF2B5EF4-FFF2-40B4-BE49-F238E27FC236}">
                <a16:creationId xmlns:a16="http://schemas.microsoft.com/office/drawing/2014/main" id="{C81BF377-15F1-4AE9-A828-CA5EEA06E94E}"/>
              </a:ext>
            </a:extLst>
          </p:cNvPr>
          <p:cNvSpPr>
            <a:spLocks xmlns:a="http://schemas.openxmlformats.org/drawingml/2006/main" noGrp="1"/>
          </p:cNvSpPr>
          <p:nvPr/>
        </p:nvSpPr>
        <p:spPr>
          <a:xfrm xmlns:a="http://schemas.openxmlformats.org/drawingml/2006/main">
            <a:off x="552450" y="400050"/>
            <a:ext cx="11049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3000" b="1">
                <a:solidFill>
                  <a:srgbClr val="FFFFFF"/>
                </a:solidFill>
                <a:latin typeface="Georgia"/>
                <a:ea typeface="Georgia"/>
                <a:cs typeface="Georgia"/>
              </a:defRPr>
            </a:pPr>
            <a:r>
              <a:rPr sz="3000" b="1">
                <a:solidFill>
                  <a:srgbClr val="FFFFFF"/>
                </a:solidFill>
                <a:latin typeface="Georgia"/>
                <a:ea typeface="Georgia"/>
                <a:cs typeface="Georgia"/>
              </a:rPr>
              <a:t>Placement data model</a:t>
            </a:r>
          </a:p>
        </p:txBody>
      </p:sp>
      <p:sp>
        <p:nvSpPr>
          <p:cNvPr id="5" name="footer-band">
            <a:extLst xmlns:a="http://schemas.openxmlformats.org/drawingml/2006/main">
              <a:ext uri="{FF2B5EF4-FFF2-40B4-BE49-F238E27FC236}">
                <a16:creationId xmlns:a16="http://schemas.microsoft.com/office/drawing/2014/main" id="{F20390FB-02EB-4065-B162-752A88DC075A}"/>
              </a:ext>
            </a:extLst>
          </p:cNvPr>
          <p:cNvSpPr>
            <a:spLocks xmlns:a="http://schemas.openxmlformats.org/drawingml/2006/main" noGrp="1"/>
          </p:cNvSpPr>
          <p:nvPr/>
        </p:nvSpPr>
        <p:spPr>
          <a:xfrm xmlns:a="http://schemas.openxmlformats.org/drawingml/2006/main">
            <a:off x="0" y="6457950"/>
            <a:ext cx="12192000" cy="400050"/>
          </a:xfrm>
          <a:prstGeom xmlns:a="http://schemas.openxmlformats.org/drawingml/2006/main" prst="rect">
            <a:avLst/>
          </a:prstGeom>
          <a:solidFill xmlns:a="http://schemas.openxmlformats.org/drawingml/2006/main">
            <a:srgbClr val="0C2340"/>
          </a:solidFill>
          <a:ln xmlns:a="http://schemas.openxmlformats.org/drawingml/2006/main" w="0">
            <a:noFill/>
            <a:prstDash val="solid"/>
          </a:ln>
        </p:spPr>
      </p:sp>
      <p:sp>
        <p:nvSpPr>
          <p:cNvPr id="6" name="page-number">
            <a:extLst xmlns:a="http://schemas.openxmlformats.org/drawingml/2006/main">
              <a:ext uri="{FF2B5EF4-FFF2-40B4-BE49-F238E27FC236}">
                <a16:creationId xmlns:a16="http://schemas.microsoft.com/office/drawing/2014/main" id="{1DE03E77-FD1B-434C-8D4A-7AF29AEF7AF1}"/>
              </a:ext>
            </a:extLst>
          </p:cNvPr>
          <p:cNvSpPr>
            <a:spLocks xmlns:a="http://schemas.openxmlformats.org/drawingml/2006/main" noGrp="1"/>
          </p:cNvSpPr>
          <p:nvPr/>
        </p:nvSpPr>
        <p:spPr>
          <a:xfrm xmlns:a="http://schemas.openxmlformats.org/drawingml/2006/main">
            <a:off x="11144250" y="65341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125" b="1">
                <a:solidFill>
                  <a:srgbClr val="D88900"/>
                </a:solidFill>
                <a:latin typeface="Calibri"/>
                <a:ea typeface="Calibri"/>
                <a:cs typeface="Calibri"/>
              </a:defRPr>
            </a:pPr>
            <a:r>
              <a:rPr sz="1125" b="1">
                <a:solidFill>
                  <a:srgbClr val="D88900"/>
                </a:solidFill>
                <a:latin typeface="Calibri"/>
                <a:ea typeface="Calibri"/>
                <a:cs typeface="Calibri"/>
              </a:rPr>
              <a:t>8 / 13</a:t>
            </a:r>
          </a:p>
        </p:txBody>
      </p:sp>
      <p:pic xmlns:a="http://schemas.openxmlformats.org/drawingml/2006/main" xmlns:r="http://schemas.openxmlformats.org/officeDocument/2006/relationships">
        <p:nvPicPr>
          <p:cNvPr id="15" name="" descr="er-placement-view.png"/>
          <p:cNvPicPr>
            <a:picLocks noChangeAspect="1"/>
          </p:cNvPicPr>
          <p:nvPr/>
        </p:nvPicPr>
        <p:blipFill>
          <a:blip r:embed="rId4"/>
          <a:stretch>
            <a:fillRect/>
          </a:stretch>
        </p:blipFill>
        <p:spPr>
          <a:xfrm>
            <a:off x="3129219" y="1322000"/>
            <a:ext cx="5933563" cy="4870000"/>
          </a:xfrm>
          <a:prstGeom prst="rect">
            <a:avLst/>
          </a:prstGeom>
        </p:spPr>
      </p:pic>
    </p:spTree>
    <p:extLst>
      <p:ext uri="{BB962C8B-B14F-4D97-AF65-F5344CB8AC3E}">
        <p14:creationId xmlns:p14="http://schemas.microsoft.com/office/powerpoint/2010/main" val="1735108420"/>
      </p:ext>
    </p:extLst>
  </p:cSld>
</p:sld>
</file>

<file path=ppt/slides/slide9.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8" name="header-band">
            <a:extLst xmlns:a="http://schemas.openxmlformats.org/drawingml/2006/main">
              <a:ext uri="{FF2B5EF4-FFF2-40B4-BE49-F238E27FC236}">
                <a16:creationId xmlns:a16="http://schemas.microsoft.com/office/drawing/2014/main" id="{07A10E95-D489-491A-92BE-A7C775375E7E}"/>
              </a:ext>
            </a:extLst>
          </p:cNvPr>
          <p:cNvSpPr>
            <a:spLocks xmlns:a="http://schemas.openxmlformats.org/drawingml/2006/main" noGrp="1"/>
          </p:cNvSpPr>
          <p:nvPr/>
        </p:nvSpPr>
        <p:spPr>
          <a:xfrm xmlns:a="http://schemas.openxmlformats.org/drawingml/2006/main">
            <a:off x="0" y="0"/>
            <a:ext cx="12192000" cy="1123950"/>
          </a:xfrm>
          <a:prstGeom xmlns:a="http://schemas.openxmlformats.org/drawingml/2006/main" prst="rect">
            <a:avLst/>
          </a:prstGeom>
          <a:solidFill xmlns:a="http://schemas.openxmlformats.org/drawingml/2006/main">
            <a:srgbClr val="0C2340"/>
          </a:solidFill>
          <a:ln xmlns:a="http://schemas.openxmlformats.org/drawingml/2006/main" w="0">
            <a:noFill/>
            <a:prstDash val="solid"/>
          </a:ln>
        </p:spPr>
      </p:sp>
      <p:sp>
        <p:nvSpPr>
          <p:cNvPr id="2" name="header-rule">
            <a:extLst xmlns:a="http://schemas.openxmlformats.org/drawingml/2006/main">
              <a:ext uri="{FF2B5EF4-FFF2-40B4-BE49-F238E27FC236}">
                <a16:creationId xmlns:a16="http://schemas.microsoft.com/office/drawing/2014/main" id="{35EDCC2C-B46E-4D91-A3B5-7131FBCF1084}"/>
              </a:ext>
            </a:extLst>
          </p:cNvPr>
          <p:cNvSpPr>
            <a:spLocks xmlns:a="http://schemas.openxmlformats.org/drawingml/2006/main" noGrp="1"/>
          </p:cNvSpPr>
          <p:nvPr/>
        </p:nvSpPr>
        <p:spPr>
          <a:xfrm xmlns:a="http://schemas.openxmlformats.org/drawingml/2006/main">
            <a:off x="0" y="1066800"/>
            <a:ext cx="12192000" cy="57150"/>
          </a:xfrm>
          <a:prstGeom xmlns:a="http://schemas.openxmlformats.org/drawingml/2006/main" prst="rect">
            <a:avLst/>
          </a:prstGeom>
          <a:solidFill xmlns:a="http://schemas.openxmlformats.org/drawingml/2006/main">
            <a:srgbClr val="D88900"/>
          </a:solidFill>
          <a:ln xmlns:a="http://schemas.openxmlformats.org/drawingml/2006/main" w="0">
            <a:noFill/>
            <a:prstDash val="solid"/>
          </a:ln>
        </p:spPr>
      </p:sp>
      <p:sp>
        <p:nvSpPr>
          <p:cNvPr id="3" name="section-label">
            <a:extLst xmlns:a="http://schemas.openxmlformats.org/drawingml/2006/main">
              <a:ext uri="{FF2B5EF4-FFF2-40B4-BE49-F238E27FC236}">
                <a16:creationId xmlns:a16="http://schemas.microsoft.com/office/drawing/2014/main" id="{82D98E35-ECFE-4D45-8475-208F53428C9D}"/>
              </a:ext>
            </a:extLst>
          </p:cNvPr>
          <p:cNvSpPr>
            <a:spLocks xmlns:a="http://schemas.openxmlformats.org/drawingml/2006/main" noGrp="1"/>
          </p:cNvSpPr>
          <p:nvPr/>
        </p:nvSpPr>
        <p:spPr>
          <a:xfrm xmlns:a="http://schemas.openxmlformats.org/drawingml/2006/main">
            <a:off x="552450" y="142875"/>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125" b="1">
                <a:solidFill>
                  <a:srgbClr val="D88900"/>
                </a:solidFill>
                <a:latin typeface="Calibri"/>
                <a:ea typeface="Calibri"/>
                <a:cs typeface="Calibri"/>
              </a:defRPr>
            </a:pPr>
            <a:r>
              <a:rPr sz="1125" b="1">
                <a:solidFill>
                  <a:srgbClr val="D88900"/>
                </a:solidFill>
                <a:latin typeface="Calibri"/>
                <a:ea typeface="Calibri"/>
                <a:cs typeface="Calibri"/>
              </a:rPr>
              <a:t>ENTITY-RELATIONSHIP DIAGRAM</a:t>
            </a:r>
          </a:p>
        </p:txBody>
      </p:sp>
      <p:sp>
        <p:nvSpPr>
          <p:cNvPr id="4" name="slide-title">
            <a:extLst xmlns:a="http://schemas.openxmlformats.org/drawingml/2006/main">
              <a:ext uri="{FF2B5EF4-FFF2-40B4-BE49-F238E27FC236}">
                <a16:creationId xmlns:a16="http://schemas.microsoft.com/office/drawing/2014/main" id="{834BE999-3681-4D82-BCA3-75BCB3D7CE6F}"/>
              </a:ext>
            </a:extLst>
          </p:cNvPr>
          <p:cNvSpPr>
            <a:spLocks xmlns:a="http://schemas.openxmlformats.org/drawingml/2006/main" noGrp="1"/>
          </p:cNvSpPr>
          <p:nvPr/>
        </p:nvSpPr>
        <p:spPr>
          <a:xfrm xmlns:a="http://schemas.openxmlformats.org/drawingml/2006/main">
            <a:off x="552450" y="400050"/>
            <a:ext cx="11049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3000" b="1">
                <a:solidFill>
                  <a:srgbClr val="FFFFFF"/>
                </a:solidFill>
                <a:latin typeface="Georgia"/>
                <a:ea typeface="Georgia"/>
                <a:cs typeface="Georgia"/>
              </a:defRPr>
            </a:pPr>
            <a:r>
              <a:rPr sz="3000" b="1">
                <a:solidFill>
                  <a:srgbClr val="FFFFFF"/>
                </a:solidFill>
                <a:latin typeface="Georgia"/>
                <a:ea typeface="Georgia"/>
                <a:cs typeface="Georgia"/>
              </a:rPr>
              <a:t>Academic data model</a:t>
            </a:r>
          </a:p>
        </p:txBody>
      </p:sp>
      <p:sp>
        <p:nvSpPr>
          <p:cNvPr id="5" name="footer-band">
            <a:extLst xmlns:a="http://schemas.openxmlformats.org/drawingml/2006/main">
              <a:ext uri="{FF2B5EF4-FFF2-40B4-BE49-F238E27FC236}">
                <a16:creationId xmlns:a16="http://schemas.microsoft.com/office/drawing/2014/main" id="{D3032CC6-BEA5-4D74-B2ED-6A4B5B1CE50D}"/>
              </a:ext>
            </a:extLst>
          </p:cNvPr>
          <p:cNvSpPr>
            <a:spLocks xmlns:a="http://schemas.openxmlformats.org/drawingml/2006/main" noGrp="1"/>
          </p:cNvSpPr>
          <p:nvPr/>
        </p:nvSpPr>
        <p:spPr>
          <a:xfrm xmlns:a="http://schemas.openxmlformats.org/drawingml/2006/main">
            <a:off x="0" y="6457950"/>
            <a:ext cx="12192000" cy="400050"/>
          </a:xfrm>
          <a:prstGeom xmlns:a="http://schemas.openxmlformats.org/drawingml/2006/main" prst="rect">
            <a:avLst/>
          </a:prstGeom>
          <a:solidFill xmlns:a="http://schemas.openxmlformats.org/drawingml/2006/main">
            <a:srgbClr val="0C2340"/>
          </a:solidFill>
          <a:ln xmlns:a="http://schemas.openxmlformats.org/drawingml/2006/main" w="0">
            <a:noFill/>
            <a:prstDash val="solid"/>
          </a:ln>
        </p:spPr>
      </p:sp>
      <p:sp>
        <p:nvSpPr>
          <p:cNvPr id="6" name="page-number">
            <a:extLst xmlns:a="http://schemas.openxmlformats.org/drawingml/2006/main">
              <a:ext uri="{FF2B5EF4-FFF2-40B4-BE49-F238E27FC236}">
                <a16:creationId xmlns:a16="http://schemas.microsoft.com/office/drawing/2014/main" id="{17A488D9-BB88-4795-A4AF-F290BCCB3746}"/>
              </a:ext>
            </a:extLst>
          </p:cNvPr>
          <p:cNvSpPr>
            <a:spLocks xmlns:a="http://schemas.openxmlformats.org/drawingml/2006/main" noGrp="1"/>
          </p:cNvSpPr>
          <p:nvPr/>
        </p:nvSpPr>
        <p:spPr>
          <a:xfrm xmlns:a="http://schemas.openxmlformats.org/drawingml/2006/main">
            <a:off x="11144250" y="65341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125" b="1">
                <a:solidFill>
                  <a:srgbClr val="D88900"/>
                </a:solidFill>
                <a:latin typeface="Calibri"/>
                <a:ea typeface="Calibri"/>
                <a:cs typeface="Calibri"/>
              </a:defRPr>
            </a:pPr>
            <a:r>
              <a:rPr sz="1125" b="1">
                <a:solidFill>
                  <a:srgbClr val="D88900"/>
                </a:solidFill>
                <a:latin typeface="Calibri"/>
                <a:ea typeface="Calibri"/>
                <a:cs typeface="Calibri"/>
              </a:rPr>
              <a:t>9 / 13</a:t>
            </a:r>
          </a:p>
        </p:txBody>
      </p:sp>
      <p:pic xmlns:a="http://schemas.openxmlformats.org/drawingml/2006/main" xmlns:r="http://schemas.openxmlformats.org/officeDocument/2006/relationships">
        <p:nvPicPr>
          <p:cNvPr id="15" name="" descr="er-academic-view.png"/>
          <p:cNvPicPr>
            <a:picLocks noChangeAspect="1"/>
          </p:cNvPicPr>
          <p:nvPr/>
        </p:nvPicPr>
        <p:blipFill>
          <a:blip r:embed="rId4"/>
          <a:stretch>
            <a:fillRect/>
          </a:stretch>
        </p:blipFill>
        <p:spPr>
          <a:xfrm>
            <a:off x="3977271" y="1322000"/>
            <a:ext cx="4237459" cy="4870000"/>
          </a:xfrm>
          <a:prstGeom prst="rect">
            <a:avLst/>
          </a:prstGeom>
        </p:spPr>
      </p:pic>
    </p:spTree>
    <p:extLst>
      <p:ext uri="{BB962C8B-B14F-4D97-AF65-F5344CB8AC3E}">
        <p14:creationId xmlns:p14="http://schemas.microsoft.com/office/powerpoint/2010/main" val="1774941051"/>
      </p:ext>
    </p:extLst>
  </p:cSld>
</p:sld>
</file>

<file path=ppt/slides/slide10.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5" name="header-band">
            <a:extLst xmlns:a="http://schemas.openxmlformats.org/drawingml/2006/main">
              <a:ext uri="{FF2B5EF4-FFF2-40B4-BE49-F238E27FC236}">
                <a16:creationId xmlns:a16="http://schemas.microsoft.com/office/drawing/2014/main" id="{82A9867A-4B20-4F05-9EB2-D11EC7FBD1A9}"/>
              </a:ext>
            </a:extLst>
          </p:cNvPr>
          <p:cNvSpPr>
            <a:spLocks xmlns:a="http://schemas.openxmlformats.org/drawingml/2006/main" noGrp="1"/>
          </p:cNvSpPr>
          <p:nvPr/>
        </p:nvSpPr>
        <p:spPr>
          <a:xfrm xmlns:a="http://schemas.openxmlformats.org/drawingml/2006/main">
            <a:off x="0" y="0"/>
            <a:ext cx="12192000" cy="1123950"/>
          </a:xfrm>
          <a:prstGeom xmlns:a="http://schemas.openxmlformats.org/drawingml/2006/main" prst="rect">
            <a:avLst/>
          </a:prstGeom>
          <a:solidFill xmlns:a="http://schemas.openxmlformats.org/drawingml/2006/main">
            <a:srgbClr val="0C2340"/>
          </a:solidFill>
          <a:ln xmlns:a="http://schemas.openxmlformats.org/drawingml/2006/main" w="0">
            <a:noFill/>
            <a:prstDash val="solid"/>
          </a:ln>
        </p:spPr>
      </p:sp>
      <p:sp>
        <p:nvSpPr>
          <p:cNvPr id="2" name="header-rule">
            <a:extLst xmlns:a="http://schemas.openxmlformats.org/drawingml/2006/main">
              <a:ext uri="{FF2B5EF4-FFF2-40B4-BE49-F238E27FC236}">
                <a16:creationId xmlns:a16="http://schemas.microsoft.com/office/drawing/2014/main" id="{8BF20200-D172-4F92-A41E-0A50BF07CF40}"/>
              </a:ext>
            </a:extLst>
          </p:cNvPr>
          <p:cNvSpPr>
            <a:spLocks xmlns:a="http://schemas.openxmlformats.org/drawingml/2006/main" noGrp="1"/>
          </p:cNvSpPr>
          <p:nvPr/>
        </p:nvSpPr>
        <p:spPr>
          <a:xfrm xmlns:a="http://schemas.openxmlformats.org/drawingml/2006/main">
            <a:off x="0" y="1066800"/>
            <a:ext cx="12192000" cy="57150"/>
          </a:xfrm>
          <a:prstGeom xmlns:a="http://schemas.openxmlformats.org/drawingml/2006/main" prst="rect">
            <a:avLst/>
          </a:prstGeom>
          <a:solidFill xmlns:a="http://schemas.openxmlformats.org/drawingml/2006/main">
            <a:srgbClr val="D88900"/>
          </a:solidFill>
          <a:ln xmlns:a="http://schemas.openxmlformats.org/drawingml/2006/main" w="0">
            <a:noFill/>
            <a:prstDash val="solid"/>
          </a:ln>
        </p:spPr>
      </p:sp>
      <p:sp>
        <p:nvSpPr>
          <p:cNvPr id="3" name="section-label">
            <a:extLst xmlns:a="http://schemas.openxmlformats.org/drawingml/2006/main">
              <a:ext uri="{FF2B5EF4-FFF2-40B4-BE49-F238E27FC236}">
                <a16:creationId xmlns:a16="http://schemas.microsoft.com/office/drawing/2014/main" id="{271B2B26-F815-48B0-AB2F-A42CBFE0B34E}"/>
              </a:ext>
            </a:extLst>
          </p:cNvPr>
          <p:cNvSpPr>
            <a:spLocks xmlns:a="http://schemas.openxmlformats.org/drawingml/2006/main" noGrp="1"/>
          </p:cNvSpPr>
          <p:nvPr/>
        </p:nvSpPr>
        <p:spPr>
          <a:xfrm xmlns:a="http://schemas.openxmlformats.org/drawingml/2006/main">
            <a:off x="552450" y="142875"/>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125" b="1">
                <a:solidFill>
                  <a:srgbClr val="D88900"/>
                </a:solidFill>
                <a:latin typeface="Calibri"/>
                <a:ea typeface="Calibri"/>
                <a:cs typeface="Calibri"/>
              </a:defRPr>
            </a:pPr>
            <a:r>
              <a:rPr sz="1125" b="1">
                <a:solidFill>
                  <a:srgbClr val="D88900"/>
                </a:solidFill>
                <a:latin typeface="Calibri"/>
                <a:ea typeface="Calibri"/>
                <a:cs typeface="Calibri"/>
              </a:rPr>
              <a:t>IMPLEMENTATION</a:t>
            </a:r>
          </a:p>
        </p:txBody>
      </p:sp>
      <p:sp>
        <p:nvSpPr>
          <p:cNvPr id="4" name="slide-title">
            <a:extLst xmlns:a="http://schemas.openxmlformats.org/drawingml/2006/main">
              <a:ext uri="{FF2B5EF4-FFF2-40B4-BE49-F238E27FC236}">
                <a16:creationId xmlns:a16="http://schemas.microsoft.com/office/drawing/2014/main" id="{EBF967B5-0144-4835-836E-C601A3B4BB3F}"/>
              </a:ext>
            </a:extLst>
          </p:cNvPr>
          <p:cNvSpPr>
            <a:spLocks xmlns:a="http://schemas.openxmlformats.org/drawingml/2006/main" noGrp="1"/>
          </p:cNvSpPr>
          <p:nvPr/>
        </p:nvSpPr>
        <p:spPr>
          <a:xfrm xmlns:a="http://schemas.openxmlformats.org/drawingml/2006/main">
            <a:off x="552450" y="400050"/>
            <a:ext cx="11049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3000" b="1">
                <a:solidFill>
                  <a:srgbClr val="FFFFFF"/>
                </a:solidFill>
                <a:latin typeface="Georgia"/>
                <a:ea typeface="Georgia"/>
                <a:cs typeface="Georgia"/>
              </a:defRPr>
            </a:pPr>
            <a:r>
              <a:rPr sz="3000" b="1">
                <a:solidFill>
                  <a:srgbClr val="FFFFFF"/>
                </a:solidFill>
                <a:latin typeface="Georgia"/>
                <a:ea typeface="Georgia"/>
                <a:cs typeface="Georgia"/>
              </a:rPr>
              <a:t>Weeks 5 and 6 delivery</a:t>
            </a:r>
          </a:p>
        </p:txBody>
      </p:sp>
      <p:sp>
        <p:nvSpPr>
          <p:cNvPr id="5" name="footer-band">
            <a:extLst xmlns:a="http://schemas.openxmlformats.org/drawingml/2006/main">
              <a:ext uri="{FF2B5EF4-FFF2-40B4-BE49-F238E27FC236}">
                <a16:creationId xmlns:a16="http://schemas.microsoft.com/office/drawing/2014/main" id="{09231FC8-688A-4A30-A774-DD87C40C004C}"/>
              </a:ext>
            </a:extLst>
          </p:cNvPr>
          <p:cNvSpPr>
            <a:spLocks xmlns:a="http://schemas.openxmlformats.org/drawingml/2006/main" noGrp="1"/>
          </p:cNvSpPr>
          <p:nvPr/>
        </p:nvSpPr>
        <p:spPr>
          <a:xfrm xmlns:a="http://schemas.openxmlformats.org/drawingml/2006/main">
            <a:off x="0" y="6457950"/>
            <a:ext cx="12192000" cy="400050"/>
          </a:xfrm>
          <a:prstGeom xmlns:a="http://schemas.openxmlformats.org/drawingml/2006/main" prst="rect">
            <a:avLst/>
          </a:prstGeom>
          <a:solidFill xmlns:a="http://schemas.openxmlformats.org/drawingml/2006/main">
            <a:srgbClr val="0C2340"/>
          </a:solidFill>
          <a:ln xmlns:a="http://schemas.openxmlformats.org/drawingml/2006/main" w="0">
            <a:noFill/>
            <a:prstDash val="solid"/>
          </a:ln>
        </p:spPr>
      </p:sp>
      <p:sp>
        <p:nvSpPr>
          <p:cNvPr id="6" name="page-number">
            <a:extLst xmlns:a="http://schemas.openxmlformats.org/drawingml/2006/main">
              <a:ext uri="{FF2B5EF4-FFF2-40B4-BE49-F238E27FC236}">
                <a16:creationId xmlns:a16="http://schemas.microsoft.com/office/drawing/2014/main" id="{C3070EF1-2E70-486F-AD60-01318C6484F2}"/>
              </a:ext>
            </a:extLst>
          </p:cNvPr>
          <p:cNvSpPr>
            <a:spLocks xmlns:a="http://schemas.openxmlformats.org/drawingml/2006/main" noGrp="1"/>
          </p:cNvSpPr>
          <p:nvPr/>
        </p:nvSpPr>
        <p:spPr>
          <a:xfrm xmlns:a="http://schemas.openxmlformats.org/drawingml/2006/main">
            <a:off x="11144250" y="65341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125" b="1">
                <a:solidFill>
                  <a:srgbClr val="D88900"/>
                </a:solidFill>
                <a:latin typeface="Calibri"/>
                <a:ea typeface="Calibri"/>
                <a:cs typeface="Calibri"/>
              </a:defRPr>
            </a:pPr>
            <a:r>
              <a:rPr sz="1125" b="1">
                <a:solidFill>
                  <a:srgbClr val="D88900"/>
                </a:solidFill>
                <a:latin typeface="Calibri"/>
                <a:ea typeface="Calibri"/>
                <a:cs typeface="Calibri"/>
              </a:rPr>
              <a:t>10 / 13</a:t>
            </a:r>
          </a:p>
        </p:txBody>
      </p:sp>
      <p:sp>
        <p:nvSpPr>
          <p:cNvPr id="7" name="week5-marker">
            <a:extLst xmlns:a="http://schemas.openxmlformats.org/drawingml/2006/main">
              <a:ext uri="{FF2B5EF4-FFF2-40B4-BE49-F238E27FC236}">
                <a16:creationId xmlns:a16="http://schemas.microsoft.com/office/drawing/2014/main" id="{924571A2-A08A-4798-A6E4-70FE247A365C}"/>
              </a:ext>
            </a:extLst>
          </p:cNvPr>
          <p:cNvSpPr>
            <a:spLocks xmlns:a="http://schemas.openxmlformats.org/drawingml/2006/main" noGrp="1"/>
          </p:cNvSpPr>
          <p:nvPr/>
        </p:nvSpPr>
        <p:spPr>
          <a:xfrm xmlns:a="http://schemas.openxmlformats.org/drawingml/2006/main">
            <a:off x="742950" y="14859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1">
                <a:solidFill>
                  <a:srgbClr val="D88900"/>
                </a:solidFill>
                <a:latin typeface="Calibri"/>
                <a:ea typeface="Calibri"/>
                <a:cs typeface="Calibri"/>
              </a:defRPr>
            </a:pPr>
            <a:r>
              <a:rPr sz="1425" b="1">
                <a:solidFill>
                  <a:srgbClr val="D88900"/>
                </a:solidFill>
                <a:latin typeface="Calibri"/>
                <a:ea typeface="Calibri"/>
                <a:cs typeface="Calibri"/>
              </a:rPr>
              <a:t>WEEK 5</a:t>
            </a:r>
          </a:p>
        </p:txBody>
      </p:sp>
      <p:sp>
        <p:nvSpPr>
          <p:cNvPr id="8" name="week5-heading">
            <a:extLst xmlns:a="http://schemas.openxmlformats.org/drawingml/2006/main">
              <a:ext uri="{FF2B5EF4-FFF2-40B4-BE49-F238E27FC236}">
                <a16:creationId xmlns:a16="http://schemas.microsoft.com/office/drawing/2014/main" id="{F9FBC7EB-94C9-4B5B-B7A4-AF1955FE3D0D}"/>
              </a:ext>
            </a:extLst>
          </p:cNvPr>
          <p:cNvSpPr>
            <a:spLocks xmlns:a="http://schemas.openxmlformats.org/drawingml/2006/main" noGrp="1"/>
          </p:cNvSpPr>
          <p:nvPr/>
        </p:nvSpPr>
        <p:spPr>
          <a:xfrm xmlns:a="http://schemas.openxmlformats.org/drawingml/2006/main">
            <a:off x="742950" y="18288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2550" b="1">
                <a:solidFill>
                  <a:srgbClr val="0C2340"/>
                </a:solidFill>
                <a:latin typeface="Georgia"/>
                <a:ea typeface="Georgia"/>
                <a:cs typeface="Georgia"/>
              </a:defRPr>
            </a:pPr>
            <a:r>
              <a:rPr sz="2550" b="1">
                <a:solidFill>
                  <a:srgbClr val="0C2340"/>
                </a:solidFill>
                <a:latin typeface="Georgia"/>
                <a:ea typeface="Georgia"/>
                <a:cs typeface="Georgia"/>
              </a:rPr>
              <a:t>Foundation</a:t>
            </a:r>
          </a:p>
        </p:txBody>
      </p:sp>
      <p:sp>
        <p:nvSpPr>
          <p:cNvPr id="9" name="week5-rule">
            <a:extLst xmlns:a="http://schemas.openxmlformats.org/drawingml/2006/main">
              <a:ext uri="{FF2B5EF4-FFF2-40B4-BE49-F238E27FC236}">
                <a16:creationId xmlns:a16="http://schemas.microsoft.com/office/drawing/2014/main" id="{3A98C0A1-9256-4EE9-A536-37EAEFB5D5EB}"/>
              </a:ext>
            </a:extLst>
          </p:cNvPr>
          <p:cNvSpPr>
            <a:spLocks xmlns:a="http://schemas.openxmlformats.org/drawingml/2006/main" noGrp="1"/>
          </p:cNvSpPr>
          <p:nvPr/>
        </p:nvSpPr>
        <p:spPr>
          <a:xfrm xmlns:a="http://schemas.openxmlformats.org/drawingml/2006/main">
            <a:off x="742950" y="2409825"/>
            <a:ext cx="4762500" cy="28575"/>
          </a:xfrm>
          <a:prstGeom xmlns:a="http://schemas.openxmlformats.org/drawingml/2006/main" prst="rect">
            <a:avLst/>
          </a:prstGeom>
          <a:solidFill xmlns:a="http://schemas.openxmlformats.org/drawingml/2006/main">
            <a:srgbClr val="D88900"/>
          </a:solidFill>
          <a:ln xmlns:a="http://schemas.openxmlformats.org/drawingml/2006/main" w="0">
            <a:noFill/>
            <a:prstDash val="solid"/>
          </a:ln>
        </p:spPr>
      </p:sp>
      <p:sp>
        <p:nvSpPr>
          <p:cNvPr id="10" name="week5-work">
            <a:extLst xmlns:a="http://schemas.openxmlformats.org/drawingml/2006/main">
              <a:ext uri="{FF2B5EF4-FFF2-40B4-BE49-F238E27FC236}">
                <a16:creationId xmlns:a16="http://schemas.microsoft.com/office/drawing/2014/main" id="{BE5B0031-B8E0-41C8-AD13-CE8F76115395}"/>
              </a:ext>
            </a:extLst>
          </p:cNvPr>
          <p:cNvSpPr>
            <a:spLocks xmlns:a="http://schemas.openxmlformats.org/drawingml/2006/main" noGrp="1"/>
          </p:cNvSpPr>
          <p:nvPr/>
        </p:nvSpPr>
        <p:spPr>
          <a:xfrm xmlns:a="http://schemas.openxmlformats.org/drawingml/2006/main">
            <a:off x="762000" y="2657475"/>
            <a:ext cx="4762500" cy="3190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725" b="0">
                <a:solidFill>
                  <a:srgbClr val="14263E"/>
                </a:solidFill>
                <a:latin typeface="Calibri"/>
                <a:ea typeface="Calibri"/>
                <a:cs typeface="Calibri"/>
              </a:defRPr>
            </a:pPr>
            <a:r>
              <a:rPr sz="1725" b="0">
                <a:solidFill>
                  <a:srgbClr val="14263E"/>
                </a:solidFill>
                <a:latin typeface="Calibri"/>
                <a:ea typeface="Calibri"/>
                <a:cs typeface="Calibri"/>
              </a:rPr>
              <a:t>SRS and role model</a:t>
            </a:r>
          </a:p>
          <a:p xmlns:a="http://schemas.openxmlformats.org/drawingml/2006/main">
            <a:r>
              <a:t/>
            </a:r>
          </a:p>
          <a:p xmlns:a="http://schemas.openxmlformats.org/drawingml/2006/main">
            <a:pPr algn="l">
              <a:defRPr sz="1725" b="0">
                <a:solidFill>
                  <a:srgbClr val="14263E"/>
                </a:solidFill>
                <a:latin typeface="Calibri"/>
                <a:ea typeface="Calibri"/>
                <a:cs typeface="Calibri"/>
              </a:defRPr>
            </a:pPr>
            <a:r>
              <a:rPr sz="1725" b="0">
                <a:solidFill>
                  <a:srgbClr val="14263E"/>
                </a:solidFill>
                <a:latin typeface="Calibri"/>
                <a:ea typeface="Calibri"/>
                <a:cs typeface="Calibri"/>
              </a:rPr>
              <a:t>Session authentication and route guards</a:t>
            </a:r>
          </a:p>
          <a:p xmlns:a="http://schemas.openxmlformats.org/drawingml/2006/main">
            <a:r>
              <a:t/>
            </a:r>
          </a:p>
          <a:p xmlns:a="http://schemas.openxmlformats.org/drawingml/2006/main">
            <a:pPr algn="l">
              <a:defRPr sz="1725" b="0">
                <a:solidFill>
                  <a:srgbClr val="14263E"/>
                </a:solidFill>
                <a:latin typeface="Calibri"/>
                <a:ea typeface="Calibri"/>
                <a:cs typeface="Calibri"/>
              </a:defRPr>
            </a:pPr>
            <a:r>
              <a:rPr sz="1725" b="0">
                <a:solidFill>
                  <a:srgbClr val="14263E"/>
                </a:solidFill>
                <a:latin typeface="Calibri"/>
                <a:ea typeface="Calibri"/>
                <a:cs typeface="Calibri"/>
              </a:rPr>
              <a:t>Academic late-policy rules</a:t>
            </a:r>
          </a:p>
          <a:p xmlns:a="http://schemas.openxmlformats.org/drawingml/2006/main">
            <a:r>
              <a:t/>
            </a:r>
          </a:p>
          <a:p xmlns:a="http://schemas.openxmlformats.org/drawingml/2006/main">
            <a:pPr algn="l">
              <a:defRPr sz="1725" b="0">
                <a:solidFill>
                  <a:srgbClr val="14263E"/>
                </a:solidFill>
                <a:latin typeface="Calibri"/>
                <a:ea typeface="Calibri"/>
                <a:cs typeface="Calibri"/>
              </a:defRPr>
            </a:pPr>
            <a:r>
              <a:rPr sz="1725" b="0">
                <a:solidFill>
                  <a:srgbClr val="14263E"/>
                </a:solidFill>
                <a:latin typeface="Calibri"/>
                <a:ea typeface="Calibri"/>
                <a:cs typeface="Calibri"/>
              </a:rPr>
              <a:t>Architecture and user flows</a:t>
            </a:r>
          </a:p>
        </p:txBody>
      </p:sp>
      <p:sp>
        <p:nvSpPr>
          <p:cNvPr id="11" name="week6-marker">
            <a:extLst xmlns:a="http://schemas.openxmlformats.org/drawingml/2006/main">
              <a:ext uri="{FF2B5EF4-FFF2-40B4-BE49-F238E27FC236}">
                <a16:creationId xmlns:a16="http://schemas.microsoft.com/office/drawing/2014/main" id="{4B901D8A-9361-4426-B3C9-9C4DD1DA4E45}"/>
              </a:ext>
            </a:extLst>
          </p:cNvPr>
          <p:cNvSpPr>
            <a:spLocks xmlns:a="http://schemas.openxmlformats.org/drawingml/2006/main" noGrp="1"/>
          </p:cNvSpPr>
          <p:nvPr/>
        </p:nvSpPr>
        <p:spPr>
          <a:xfrm xmlns:a="http://schemas.openxmlformats.org/drawingml/2006/main">
            <a:off x="6477000" y="14859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425" b="1">
                <a:solidFill>
                  <a:srgbClr val="D88900"/>
                </a:solidFill>
                <a:latin typeface="Calibri"/>
                <a:ea typeface="Calibri"/>
                <a:cs typeface="Calibri"/>
              </a:defRPr>
            </a:pPr>
            <a:r>
              <a:rPr sz="1425" b="1">
                <a:solidFill>
                  <a:srgbClr val="D88900"/>
                </a:solidFill>
                <a:latin typeface="Calibri"/>
                <a:ea typeface="Calibri"/>
                <a:cs typeface="Calibri"/>
              </a:rPr>
              <a:t>WEEK 6</a:t>
            </a:r>
          </a:p>
        </p:txBody>
      </p:sp>
      <p:sp>
        <p:nvSpPr>
          <p:cNvPr id="12" name="week6-heading">
            <a:extLst xmlns:a="http://schemas.openxmlformats.org/drawingml/2006/main">
              <a:ext uri="{FF2B5EF4-FFF2-40B4-BE49-F238E27FC236}">
                <a16:creationId xmlns:a16="http://schemas.microsoft.com/office/drawing/2014/main" id="{06F71C49-175C-4E13-B404-10B35439E61E}"/>
              </a:ext>
            </a:extLst>
          </p:cNvPr>
          <p:cNvSpPr>
            <a:spLocks xmlns:a="http://schemas.openxmlformats.org/drawingml/2006/main" noGrp="1"/>
          </p:cNvSpPr>
          <p:nvPr/>
        </p:nvSpPr>
        <p:spPr>
          <a:xfrm xmlns:a="http://schemas.openxmlformats.org/drawingml/2006/main">
            <a:off x="6477000" y="182880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2550" b="1">
                <a:solidFill>
                  <a:srgbClr val="0C2340"/>
                </a:solidFill>
                <a:latin typeface="Georgia"/>
                <a:ea typeface="Georgia"/>
                <a:cs typeface="Georgia"/>
              </a:defRPr>
            </a:pPr>
            <a:r>
              <a:rPr sz="2550" b="1">
                <a:solidFill>
                  <a:srgbClr val="0C2340"/>
                </a:solidFill>
                <a:latin typeface="Georgia"/>
                <a:ea typeface="Georgia"/>
                <a:cs typeface="Georgia"/>
              </a:rPr>
              <a:t>Both workflows</a:t>
            </a:r>
          </a:p>
        </p:txBody>
      </p:sp>
      <p:sp>
        <p:nvSpPr>
          <p:cNvPr id="13" name="week6-rule">
            <a:extLst xmlns:a="http://schemas.openxmlformats.org/drawingml/2006/main">
              <a:ext uri="{FF2B5EF4-FFF2-40B4-BE49-F238E27FC236}">
                <a16:creationId xmlns:a16="http://schemas.microsoft.com/office/drawing/2014/main" id="{685A14C2-F34E-4BCE-837A-3E964804D291}"/>
              </a:ext>
            </a:extLst>
          </p:cNvPr>
          <p:cNvSpPr>
            <a:spLocks xmlns:a="http://schemas.openxmlformats.org/drawingml/2006/main" noGrp="1"/>
          </p:cNvSpPr>
          <p:nvPr/>
        </p:nvSpPr>
        <p:spPr>
          <a:xfrm xmlns:a="http://schemas.openxmlformats.org/drawingml/2006/main">
            <a:off x="6477000" y="2409825"/>
            <a:ext cx="4953000" cy="28575"/>
          </a:xfrm>
          <a:prstGeom xmlns:a="http://schemas.openxmlformats.org/drawingml/2006/main" prst="rect">
            <a:avLst/>
          </a:prstGeom>
          <a:solidFill xmlns:a="http://schemas.openxmlformats.org/drawingml/2006/main">
            <a:srgbClr val="D88900"/>
          </a:solidFill>
          <a:ln xmlns:a="http://schemas.openxmlformats.org/drawingml/2006/main" w="0">
            <a:noFill/>
            <a:prstDash val="solid"/>
          </a:ln>
        </p:spPr>
      </p:sp>
      <p:sp>
        <p:nvSpPr>
          <p:cNvPr id="14" name="week6-work">
            <a:extLst xmlns:a="http://schemas.openxmlformats.org/drawingml/2006/main">
              <a:ext uri="{FF2B5EF4-FFF2-40B4-BE49-F238E27FC236}">
                <a16:creationId xmlns:a16="http://schemas.microsoft.com/office/drawing/2014/main" id="{77CBBE91-08C2-4548-B58A-A93BE589D95E}"/>
              </a:ext>
            </a:extLst>
          </p:cNvPr>
          <p:cNvSpPr>
            <a:spLocks xmlns:a="http://schemas.openxmlformats.org/drawingml/2006/main" noGrp="1"/>
          </p:cNvSpPr>
          <p:nvPr/>
        </p:nvSpPr>
        <p:spPr>
          <a:xfrm xmlns:a="http://schemas.openxmlformats.org/drawingml/2006/main">
            <a:off x="6496050" y="2657475"/>
            <a:ext cx="4953000" cy="3190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725" b="0">
                <a:solidFill>
                  <a:srgbClr val="14263E"/>
                </a:solidFill>
                <a:latin typeface="Calibri"/>
                <a:ea typeface="Calibri"/>
                <a:cs typeface="Calibri"/>
              </a:defRPr>
            </a:pPr>
            <a:r>
              <a:rPr sz="1725" b="0">
                <a:solidFill>
                  <a:srgbClr val="14263E"/>
                </a:solidFill>
                <a:latin typeface="Calibri"/>
                <a:ea typeface="Calibri"/>
                <a:cs typeface="Calibri"/>
              </a:rPr>
              <a:t>Placement rounds, checklists and reminder logs</a:t>
            </a:r>
          </a:p>
          <a:p xmlns:a="http://schemas.openxmlformats.org/drawingml/2006/main">
            <a:r>
              <a:t/>
            </a:r>
          </a:p>
          <a:p xmlns:a="http://schemas.openxmlformats.org/drawingml/2006/main">
            <a:pPr algn="l">
              <a:defRPr sz="1725" b="0">
                <a:solidFill>
                  <a:srgbClr val="14263E"/>
                </a:solidFill>
                <a:latin typeface="Calibri"/>
                <a:ea typeface="Calibri"/>
                <a:cs typeface="Calibri"/>
              </a:defRPr>
            </a:pPr>
            <a:r>
              <a:rPr sz="1725" b="0">
                <a:solidFill>
                  <a:srgbClr val="14263E"/>
                </a:solidFill>
                <a:latin typeface="Calibri"/>
                <a:ea typeface="Calibri"/>
                <a:cs typeface="Calibri"/>
              </a:rPr>
              <a:t>Academic uploads and automatic late outcomes</a:t>
            </a:r>
          </a:p>
          <a:p xmlns:a="http://schemas.openxmlformats.org/drawingml/2006/main">
            <a:r>
              <a:t/>
            </a:r>
          </a:p>
          <a:p xmlns:a="http://schemas.openxmlformats.org/drawingml/2006/main">
            <a:pPr algn="l">
              <a:defRPr sz="1725" b="0">
                <a:solidFill>
                  <a:srgbClr val="14263E"/>
                </a:solidFill>
                <a:latin typeface="Calibri"/>
                <a:ea typeface="Calibri"/>
                <a:cs typeface="Calibri"/>
              </a:defRPr>
            </a:pPr>
            <a:r>
              <a:rPr sz="1725" b="0">
                <a:solidFill>
                  <a:srgbClr val="14263E"/>
                </a:solidFill>
                <a:latin typeface="Calibri"/>
                <a:ea typeface="Calibri"/>
                <a:cs typeface="Calibri"/>
              </a:rPr>
              <a:t>TA review, grading and feedback</a:t>
            </a:r>
          </a:p>
          <a:p xmlns:a="http://schemas.openxmlformats.org/drawingml/2006/main">
            <a:r>
              <a:t/>
            </a:r>
          </a:p>
          <a:p xmlns:a="http://schemas.openxmlformats.org/drawingml/2006/main">
            <a:pPr algn="l">
              <a:defRPr sz="1725" b="0">
                <a:solidFill>
                  <a:srgbClr val="14263E"/>
                </a:solidFill>
                <a:latin typeface="Calibri"/>
                <a:ea typeface="Calibri"/>
                <a:cs typeface="Calibri"/>
              </a:defRPr>
            </a:pPr>
            <a:r>
              <a:rPr sz="1725" b="0">
                <a:solidFill>
                  <a:srgbClr val="14263E"/>
                </a:solidFill>
                <a:latin typeface="Calibri"/>
                <a:ea typeface="Calibri"/>
                <a:cs typeface="Calibri"/>
              </a:rPr>
              <a:t>Responsive role-specific pages</a:t>
            </a:r>
          </a:p>
        </p:txBody>
      </p:sp>
    </p:spTree>
    <p:extLst>
      <p:ext uri="{BB962C8B-B14F-4D97-AF65-F5344CB8AC3E}">
        <p14:creationId xmlns:p14="http://schemas.microsoft.com/office/powerpoint/2010/main" val="2126943455"/>
      </p:ext>
    </p:extLst>
  </p:cSld>
</p:sld>
</file>

<file path=ppt/slides/slide11.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7" name="header-band">
            <a:extLst xmlns:a="http://schemas.openxmlformats.org/drawingml/2006/main">
              <a:ext uri="{FF2B5EF4-FFF2-40B4-BE49-F238E27FC236}">
                <a16:creationId xmlns:a16="http://schemas.microsoft.com/office/drawing/2014/main" id="{F17CB3CE-1FAD-4E84-9F46-08FC26F8DE59}"/>
              </a:ext>
            </a:extLst>
          </p:cNvPr>
          <p:cNvSpPr>
            <a:spLocks xmlns:a="http://schemas.openxmlformats.org/drawingml/2006/main" noGrp="1"/>
          </p:cNvSpPr>
          <p:nvPr/>
        </p:nvSpPr>
        <p:spPr>
          <a:xfrm xmlns:a="http://schemas.openxmlformats.org/drawingml/2006/main">
            <a:off x="0" y="0"/>
            <a:ext cx="12192000" cy="1123950"/>
          </a:xfrm>
          <a:prstGeom xmlns:a="http://schemas.openxmlformats.org/drawingml/2006/main" prst="rect">
            <a:avLst/>
          </a:prstGeom>
          <a:solidFill xmlns:a="http://schemas.openxmlformats.org/drawingml/2006/main">
            <a:srgbClr val="0C2340"/>
          </a:solidFill>
          <a:ln xmlns:a="http://schemas.openxmlformats.org/drawingml/2006/main" w="0">
            <a:noFill/>
            <a:prstDash val="solid"/>
          </a:ln>
        </p:spPr>
      </p:sp>
      <p:sp>
        <p:nvSpPr>
          <p:cNvPr id="2" name="header-rule">
            <a:extLst xmlns:a="http://schemas.openxmlformats.org/drawingml/2006/main">
              <a:ext uri="{FF2B5EF4-FFF2-40B4-BE49-F238E27FC236}">
                <a16:creationId xmlns:a16="http://schemas.microsoft.com/office/drawing/2014/main" id="{28BABA8E-1083-4FA3-A6D4-A152782CD87B}"/>
              </a:ext>
            </a:extLst>
          </p:cNvPr>
          <p:cNvSpPr>
            <a:spLocks xmlns:a="http://schemas.openxmlformats.org/drawingml/2006/main" noGrp="1"/>
          </p:cNvSpPr>
          <p:nvPr/>
        </p:nvSpPr>
        <p:spPr>
          <a:xfrm xmlns:a="http://schemas.openxmlformats.org/drawingml/2006/main">
            <a:off x="0" y="1066800"/>
            <a:ext cx="12192000" cy="57150"/>
          </a:xfrm>
          <a:prstGeom xmlns:a="http://schemas.openxmlformats.org/drawingml/2006/main" prst="rect">
            <a:avLst/>
          </a:prstGeom>
          <a:solidFill xmlns:a="http://schemas.openxmlformats.org/drawingml/2006/main">
            <a:srgbClr val="D88900"/>
          </a:solidFill>
          <a:ln xmlns:a="http://schemas.openxmlformats.org/drawingml/2006/main" w="0">
            <a:noFill/>
            <a:prstDash val="solid"/>
          </a:ln>
        </p:spPr>
      </p:sp>
      <p:sp>
        <p:nvSpPr>
          <p:cNvPr id="3" name="section-label">
            <a:extLst xmlns:a="http://schemas.openxmlformats.org/drawingml/2006/main">
              <a:ext uri="{FF2B5EF4-FFF2-40B4-BE49-F238E27FC236}">
                <a16:creationId xmlns:a16="http://schemas.microsoft.com/office/drawing/2014/main" id="{E6BEB561-07F4-46C2-815B-5E49EB12E745}"/>
              </a:ext>
            </a:extLst>
          </p:cNvPr>
          <p:cNvSpPr>
            <a:spLocks xmlns:a="http://schemas.openxmlformats.org/drawingml/2006/main" noGrp="1"/>
          </p:cNvSpPr>
          <p:nvPr/>
        </p:nvSpPr>
        <p:spPr>
          <a:xfrm xmlns:a="http://schemas.openxmlformats.org/drawingml/2006/main">
            <a:off x="552450" y="142875"/>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125" b="1">
                <a:solidFill>
                  <a:srgbClr val="D88900"/>
                </a:solidFill>
                <a:latin typeface="Calibri"/>
                <a:ea typeface="Calibri"/>
                <a:cs typeface="Calibri"/>
              </a:defRPr>
            </a:pPr>
            <a:r>
              <a:rPr sz="1125" b="1">
                <a:solidFill>
                  <a:srgbClr val="D88900"/>
                </a:solidFill>
                <a:latin typeface="Calibri"/>
                <a:ea typeface="Calibri"/>
                <a:cs typeface="Calibri"/>
              </a:rPr>
              <a:t>PROTOTYPE EVIDENCE</a:t>
            </a:r>
          </a:p>
        </p:txBody>
      </p:sp>
      <p:sp>
        <p:nvSpPr>
          <p:cNvPr id="4" name="slide-title">
            <a:extLst xmlns:a="http://schemas.openxmlformats.org/drawingml/2006/main">
              <a:ext uri="{FF2B5EF4-FFF2-40B4-BE49-F238E27FC236}">
                <a16:creationId xmlns:a16="http://schemas.microsoft.com/office/drawing/2014/main" id="{24D6C69A-F417-4B46-A83B-D9BA6EF968CD}"/>
              </a:ext>
            </a:extLst>
          </p:cNvPr>
          <p:cNvSpPr>
            <a:spLocks xmlns:a="http://schemas.openxmlformats.org/drawingml/2006/main" noGrp="1"/>
          </p:cNvSpPr>
          <p:nvPr/>
        </p:nvSpPr>
        <p:spPr>
          <a:xfrm xmlns:a="http://schemas.openxmlformats.org/drawingml/2006/main">
            <a:off x="552450" y="400050"/>
            <a:ext cx="11049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3000" b="1">
                <a:solidFill>
                  <a:srgbClr val="FFFFFF"/>
                </a:solidFill>
                <a:latin typeface="Georgia"/>
                <a:ea typeface="Georgia"/>
                <a:cs typeface="Georgia"/>
              </a:defRPr>
            </a:pPr>
            <a:r>
              <a:rPr sz="3000" b="1">
                <a:solidFill>
                  <a:srgbClr val="FFFFFF"/>
                </a:solidFill>
                <a:latin typeface="Georgia"/>
                <a:ea typeface="Georgia"/>
                <a:cs typeface="Georgia"/>
              </a:rPr>
              <a:t>Week 7 verification</a:t>
            </a:r>
          </a:p>
        </p:txBody>
      </p:sp>
      <p:sp>
        <p:nvSpPr>
          <p:cNvPr id="5" name="footer-band">
            <a:extLst xmlns:a="http://schemas.openxmlformats.org/drawingml/2006/main">
              <a:ext uri="{FF2B5EF4-FFF2-40B4-BE49-F238E27FC236}">
                <a16:creationId xmlns:a16="http://schemas.microsoft.com/office/drawing/2014/main" id="{A65A970B-C39E-48D7-8A14-9708048274DE}"/>
              </a:ext>
            </a:extLst>
          </p:cNvPr>
          <p:cNvSpPr>
            <a:spLocks xmlns:a="http://schemas.openxmlformats.org/drawingml/2006/main" noGrp="1"/>
          </p:cNvSpPr>
          <p:nvPr/>
        </p:nvSpPr>
        <p:spPr>
          <a:xfrm xmlns:a="http://schemas.openxmlformats.org/drawingml/2006/main">
            <a:off x="0" y="6457950"/>
            <a:ext cx="12192000" cy="400050"/>
          </a:xfrm>
          <a:prstGeom xmlns:a="http://schemas.openxmlformats.org/drawingml/2006/main" prst="rect">
            <a:avLst/>
          </a:prstGeom>
          <a:solidFill xmlns:a="http://schemas.openxmlformats.org/drawingml/2006/main">
            <a:srgbClr val="0C2340"/>
          </a:solidFill>
          <a:ln xmlns:a="http://schemas.openxmlformats.org/drawingml/2006/main" w="0">
            <a:noFill/>
            <a:prstDash val="solid"/>
          </a:ln>
        </p:spPr>
      </p:sp>
      <p:sp>
        <p:nvSpPr>
          <p:cNvPr id="6" name="page-number">
            <a:extLst xmlns:a="http://schemas.openxmlformats.org/drawingml/2006/main">
              <a:ext uri="{FF2B5EF4-FFF2-40B4-BE49-F238E27FC236}">
                <a16:creationId xmlns:a16="http://schemas.microsoft.com/office/drawing/2014/main" id="{4D2FFF4D-9D13-462D-8DE7-714D21706F2B}"/>
              </a:ext>
            </a:extLst>
          </p:cNvPr>
          <p:cNvSpPr>
            <a:spLocks xmlns:a="http://schemas.openxmlformats.org/drawingml/2006/main" noGrp="1"/>
          </p:cNvSpPr>
          <p:nvPr/>
        </p:nvSpPr>
        <p:spPr>
          <a:xfrm xmlns:a="http://schemas.openxmlformats.org/drawingml/2006/main">
            <a:off x="11144250" y="65341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125" b="1">
                <a:solidFill>
                  <a:srgbClr val="D88900"/>
                </a:solidFill>
                <a:latin typeface="Calibri"/>
                <a:ea typeface="Calibri"/>
                <a:cs typeface="Calibri"/>
              </a:defRPr>
            </a:pPr>
            <a:r>
              <a:rPr sz="1125" b="1">
                <a:solidFill>
                  <a:srgbClr val="D88900"/>
                </a:solidFill>
                <a:latin typeface="Calibri"/>
                <a:ea typeface="Calibri"/>
                <a:cs typeface="Calibri"/>
              </a:rPr>
              <a:t>11 / 13</a:t>
            </a:r>
          </a:p>
        </p:txBody>
      </p:sp>
      <p:sp>
        <p:nvSpPr>
          <p:cNvPr id="7" name="metric-number-0">
            <a:extLst xmlns:a="http://schemas.openxmlformats.org/drawingml/2006/main">
              <a:ext uri="{FF2B5EF4-FFF2-40B4-BE49-F238E27FC236}">
                <a16:creationId xmlns:a16="http://schemas.microsoft.com/office/drawing/2014/main" id="{98B9B66E-1E3F-4DBF-8DF6-761F8C380DEE}"/>
              </a:ext>
            </a:extLst>
          </p:cNvPr>
          <p:cNvSpPr>
            <a:spLocks xmlns:a="http://schemas.openxmlformats.org/drawingml/2006/main" noGrp="1"/>
          </p:cNvSpPr>
          <p:nvPr/>
        </p:nvSpPr>
        <p:spPr>
          <a:xfrm xmlns:a="http://schemas.openxmlformats.org/drawingml/2006/main">
            <a:off x="1047750" y="1504950"/>
            <a:ext cx="266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5700" b="1">
                <a:solidFill>
                  <a:srgbClr val="D88900"/>
                </a:solidFill>
                <a:latin typeface="Georgia"/>
                <a:ea typeface="Georgia"/>
                <a:cs typeface="Georgia"/>
              </a:defRPr>
            </a:pPr>
            <a:r>
              <a:rPr sz="5700" b="1">
                <a:solidFill>
                  <a:srgbClr val="D88900"/>
                </a:solidFill>
                <a:latin typeface="Georgia"/>
                <a:ea typeface="Georgia"/>
                <a:cs typeface="Georgia"/>
              </a:rPr>
              <a:t>12</a:t>
            </a:r>
          </a:p>
        </p:txBody>
      </p:sp>
      <p:sp>
        <p:nvSpPr>
          <p:cNvPr id="8" name="metric-caption-0">
            <a:extLst xmlns:a="http://schemas.openxmlformats.org/drawingml/2006/main">
              <a:ext uri="{FF2B5EF4-FFF2-40B4-BE49-F238E27FC236}">
                <a16:creationId xmlns:a16="http://schemas.microsoft.com/office/drawing/2014/main" id="{3648084E-D0EF-4A96-9B9F-3B4528A7ACF4}"/>
              </a:ext>
            </a:extLst>
          </p:cNvPr>
          <p:cNvSpPr>
            <a:spLocks xmlns:a="http://schemas.openxmlformats.org/drawingml/2006/main" noGrp="1"/>
          </p:cNvSpPr>
          <p:nvPr/>
        </p:nvSpPr>
        <p:spPr>
          <a:xfrm xmlns:a="http://schemas.openxmlformats.org/drawingml/2006/main">
            <a:off x="1047750" y="2476500"/>
            <a:ext cx="266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725" b="1">
                <a:solidFill>
                  <a:srgbClr val="0C2340"/>
                </a:solidFill>
                <a:latin typeface="Calibri"/>
                <a:ea typeface="Calibri"/>
                <a:cs typeface="Calibri"/>
              </a:defRPr>
            </a:pPr>
            <a:r>
              <a:rPr sz="1725" b="1">
                <a:solidFill>
                  <a:srgbClr val="0C2340"/>
                </a:solidFill>
                <a:latin typeface="Calibri"/>
                <a:ea typeface="Calibri"/>
                <a:cs typeface="Calibri"/>
              </a:rPr>
              <a:t>automated tests</a:t>
            </a:r>
          </a:p>
        </p:txBody>
      </p:sp>
      <p:sp>
        <p:nvSpPr>
          <p:cNvPr id="9" name="metric-number-1">
            <a:extLst xmlns:a="http://schemas.openxmlformats.org/drawingml/2006/main">
              <a:ext uri="{FF2B5EF4-FFF2-40B4-BE49-F238E27FC236}">
                <a16:creationId xmlns:a16="http://schemas.microsoft.com/office/drawing/2014/main" id="{61A7BA28-A280-4554-B36D-BBFD6283B5C6}"/>
              </a:ext>
            </a:extLst>
          </p:cNvPr>
          <p:cNvSpPr>
            <a:spLocks xmlns:a="http://schemas.openxmlformats.org/drawingml/2006/main" noGrp="1"/>
          </p:cNvSpPr>
          <p:nvPr/>
        </p:nvSpPr>
        <p:spPr>
          <a:xfrm xmlns:a="http://schemas.openxmlformats.org/drawingml/2006/main">
            <a:off x="4762500" y="1504950"/>
            <a:ext cx="266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5700" b="1">
                <a:solidFill>
                  <a:srgbClr val="D88900"/>
                </a:solidFill>
                <a:latin typeface="Georgia"/>
                <a:ea typeface="Georgia"/>
                <a:cs typeface="Georgia"/>
              </a:defRPr>
            </a:pPr>
            <a:r>
              <a:rPr sz="5700" b="1">
                <a:solidFill>
                  <a:srgbClr val="D88900"/>
                </a:solidFill>
                <a:latin typeface="Georgia"/>
                <a:ea typeface="Georgia"/>
                <a:cs typeface="Georgia"/>
              </a:rPr>
              <a:t>6</a:t>
            </a:r>
          </a:p>
        </p:txBody>
      </p:sp>
      <p:sp>
        <p:nvSpPr>
          <p:cNvPr id="10" name="metric-caption-1">
            <a:extLst xmlns:a="http://schemas.openxmlformats.org/drawingml/2006/main">
              <a:ext uri="{FF2B5EF4-FFF2-40B4-BE49-F238E27FC236}">
                <a16:creationId xmlns:a16="http://schemas.microsoft.com/office/drawing/2014/main" id="{60B3E00E-4AB7-4409-87C5-B63A6B7EFB14}"/>
              </a:ext>
            </a:extLst>
          </p:cNvPr>
          <p:cNvSpPr>
            <a:spLocks xmlns:a="http://schemas.openxmlformats.org/drawingml/2006/main" noGrp="1"/>
          </p:cNvSpPr>
          <p:nvPr/>
        </p:nvSpPr>
        <p:spPr>
          <a:xfrm xmlns:a="http://schemas.openxmlformats.org/drawingml/2006/main">
            <a:off x="4762500" y="2476500"/>
            <a:ext cx="266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96014"/>
          </a:bodyPr>
          <a:lstStyle xmlns:a="http://schemas.openxmlformats.org/drawingml/2006/main"/>
          <a:p xmlns:a="http://schemas.openxmlformats.org/drawingml/2006/main">
            <a:pPr algn="ctr">
              <a:defRPr sz="1725" b="1">
                <a:solidFill>
                  <a:srgbClr val="0C2340"/>
                </a:solidFill>
                <a:latin typeface="Calibri"/>
                <a:ea typeface="Calibri"/>
                <a:cs typeface="Calibri"/>
              </a:defRPr>
            </a:pPr>
            <a:r>
              <a:rPr sz="1725" b="1">
                <a:solidFill>
                  <a:srgbClr val="0C2340"/>
                </a:solidFill>
                <a:latin typeface="Calibri"/>
                <a:ea typeface="Calibri"/>
                <a:cs typeface="Calibri"/>
              </a:rPr>
              <a:t>late-policy boundary cases</a:t>
            </a:r>
          </a:p>
        </p:txBody>
      </p:sp>
      <p:sp>
        <p:nvSpPr>
          <p:cNvPr id="11" name="metric-number-2">
            <a:extLst xmlns:a="http://schemas.openxmlformats.org/drawingml/2006/main">
              <a:ext uri="{FF2B5EF4-FFF2-40B4-BE49-F238E27FC236}">
                <a16:creationId xmlns:a16="http://schemas.microsoft.com/office/drawing/2014/main" id="{5077B1D9-3355-41BA-9BA9-4ADB2F9B1239}"/>
              </a:ext>
            </a:extLst>
          </p:cNvPr>
          <p:cNvSpPr>
            <a:spLocks xmlns:a="http://schemas.openxmlformats.org/drawingml/2006/main" noGrp="1"/>
          </p:cNvSpPr>
          <p:nvPr/>
        </p:nvSpPr>
        <p:spPr>
          <a:xfrm xmlns:a="http://schemas.openxmlformats.org/drawingml/2006/main">
            <a:off x="8477250" y="1504950"/>
            <a:ext cx="266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5700" b="1">
                <a:solidFill>
                  <a:srgbClr val="D88900"/>
                </a:solidFill>
                <a:latin typeface="Georgia"/>
                <a:ea typeface="Georgia"/>
                <a:cs typeface="Georgia"/>
              </a:defRPr>
            </a:pPr>
            <a:r>
              <a:rPr sz="5700" b="1">
                <a:solidFill>
                  <a:srgbClr val="D88900"/>
                </a:solidFill>
                <a:latin typeface="Georgia"/>
                <a:ea typeface="Georgia"/>
                <a:cs typeface="Georgia"/>
              </a:rPr>
              <a:t>3</a:t>
            </a:r>
          </a:p>
        </p:txBody>
      </p:sp>
      <p:sp>
        <p:nvSpPr>
          <p:cNvPr id="12" name="metric-caption-2">
            <a:extLst xmlns:a="http://schemas.openxmlformats.org/drawingml/2006/main">
              <a:ext uri="{FF2B5EF4-FFF2-40B4-BE49-F238E27FC236}">
                <a16:creationId xmlns:a16="http://schemas.microsoft.com/office/drawing/2014/main" id="{F438E090-698C-46D6-B3F5-6908696709D6}"/>
              </a:ext>
            </a:extLst>
          </p:cNvPr>
          <p:cNvSpPr>
            <a:spLocks xmlns:a="http://schemas.openxmlformats.org/drawingml/2006/main" noGrp="1"/>
          </p:cNvSpPr>
          <p:nvPr/>
        </p:nvSpPr>
        <p:spPr>
          <a:xfrm xmlns:a="http://schemas.openxmlformats.org/drawingml/2006/main">
            <a:off x="8477250" y="2476500"/>
            <a:ext cx="266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defRPr sz="1725" b="1">
                <a:solidFill>
                  <a:srgbClr val="0C2340"/>
                </a:solidFill>
                <a:latin typeface="Calibri"/>
                <a:ea typeface="Calibri"/>
                <a:cs typeface="Calibri"/>
              </a:defRPr>
            </a:pPr>
            <a:r>
              <a:rPr sz="1725" b="1">
                <a:solidFill>
                  <a:srgbClr val="0C2340"/>
                </a:solidFill>
                <a:latin typeface="Calibri"/>
                <a:ea typeface="Calibri"/>
                <a:cs typeface="Calibri"/>
              </a:rPr>
              <a:t>authenticated roles</a:t>
            </a:r>
          </a:p>
        </p:txBody>
      </p:sp>
      <p:sp>
        <p:nvSpPr>
          <p:cNvPr id="13" name="metric-divider-1">
            <a:extLst xmlns:a="http://schemas.openxmlformats.org/drawingml/2006/main">
              <a:ext uri="{FF2B5EF4-FFF2-40B4-BE49-F238E27FC236}">
                <a16:creationId xmlns:a16="http://schemas.microsoft.com/office/drawing/2014/main" id="{1217E9F8-C996-4932-893B-6ADFAF1046EF}"/>
              </a:ext>
            </a:extLst>
          </p:cNvPr>
          <p:cNvSpPr>
            <a:spLocks xmlns:a="http://schemas.openxmlformats.org/drawingml/2006/main" noGrp="1"/>
          </p:cNvSpPr>
          <p:nvPr/>
        </p:nvSpPr>
        <p:spPr>
          <a:xfrm xmlns:a="http://schemas.openxmlformats.org/drawingml/2006/main">
            <a:off x="4229100" y="1562100"/>
            <a:ext cx="19050" cy="1428750"/>
          </a:xfrm>
          <a:prstGeom xmlns:a="http://schemas.openxmlformats.org/drawingml/2006/main" prst="rect">
            <a:avLst/>
          </a:prstGeom>
          <a:solidFill xmlns:a="http://schemas.openxmlformats.org/drawingml/2006/main">
            <a:srgbClr val="C8D0DB"/>
          </a:solidFill>
          <a:ln xmlns:a="http://schemas.openxmlformats.org/drawingml/2006/main" w="0">
            <a:noFill/>
            <a:prstDash val="solid"/>
          </a:ln>
        </p:spPr>
      </p:sp>
      <p:sp>
        <p:nvSpPr>
          <p:cNvPr id="14" name="metric-divider-2">
            <a:extLst xmlns:a="http://schemas.openxmlformats.org/drawingml/2006/main">
              <a:ext uri="{FF2B5EF4-FFF2-40B4-BE49-F238E27FC236}">
                <a16:creationId xmlns:a16="http://schemas.microsoft.com/office/drawing/2014/main" id="{439473C6-C93D-46FA-A45E-D9276414F36A}"/>
              </a:ext>
            </a:extLst>
          </p:cNvPr>
          <p:cNvSpPr>
            <a:spLocks xmlns:a="http://schemas.openxmlformats.org/drawingml/2006/main" noGrp="1"/>
          </p:cNvSpPr>
          <p:nvPr/>
        </p:nvSpPr>
        <p:spPr>
          <a:xfrm xmlns:a="http://schemas.openxmlformats.org/drawingml/2006/main">
            <a:off x="7943850" y="1562100"/>
            <a:ext cx="19050" cy="1428750"/>
          </a:xfrm>
          <a:prstGeom xmlns:a="http://schemas.openxmlformats.org/drawingml/2006/main" prst="rect">
            <a:avLst/>
          </a:prstGeom>
          <a:solidFill xmlns:a="http://schemas.openxmlformats.org/drawingml/2006/main">
            <a:srgbClr val="C8D0DB"/>
          </a:solidFill>
          <a:ln xmlns:a="http://schemas.openxmlformats.org/drawingml/2006/main" w="0">
            <a:noFill/>
            <a:prstDash val="solid"/>
          </a:ln>
        </p:spPr>
      </p:sp>
      <p:sp>
        <p:nvSpPr>
          <p:cNvPr id="15" name="verification-heading">
            <a:extLst xmlns:a="http://schemas.openxmlformats.org/drawingml/2006/main">
              <a:ext uri="{FF2B5EF4-FFF2-40B4-BE49-F238E27FC236}">
                <a16:creationId xmlns:a16="http://schemas.microsoft.com/office/drawing/2014/main" id="{C6BDFF97-40AA-4941-B742-A0420278DD8E}"/>
              </a:ext>
            </a:extLst>
          </p:cNvPr>
          <p:cNvSpPr>
            <a:spLocks xmlns:a="http://schemas.openxmlformats.org/drawingml/2006/main" noGrp="1"/>
          </p:cNvSpPr>
          <p:nvPr/>
        </p:nvSpPr>
        <p:spPr>
          <a:xfrm xmlns:a="http://schemas.openxmlformats.org/drawingml/2006/main">
            <a:off x="762000" y="35242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2025" b="1">
                <a:solidFill>
                  <a:srgbClr val="0C2340"/>
                </a:solidFill>
                <a:latin typeface="Georgia"/>
                <a:ea typeface="Georgia"/>
                <a:cs typeface="Georgia"/>
              </a:defRPr>
            </a:pPr>
            <a:r>
              <a:rPr sz="2025" b="1">
                <a:solidFill>
                  <a:srgbClr val="0C2340"/>
                </a:solidFill>
                <a:latin typeface="Georgia"/>
                <a:ea typeface="Georgia"/>
                <a:cs typeface="Georgia"/>
              </a:rPr>
              <a:t>Browser and CI checks</a:t>
            </a:r>
          </a:p>
        </p:txBody>
      </p:sp>
      <p:sp>
        <p:nvSpPr>
          <p:cNvPr id="16" name="verification-details">
            <a:extLst xmlns:a="http://schemas.openxmlformats.org/drawingml/2006/main">
              <a:ext uri="{FF2B5EF4-FFF2-40B4-BE49-F238E27FC236}">
                <a16:creationId xmlns:a16="http://schemas.microsoft.com/office/drawing/2014/main" id="{239A3955-14F7-47C1-909A-587C09CB22B8}"/>
              </a:ext>
            </a:extLst>
          </p:cNvPr>
          <p:cNvSpPr>
            <a:spLocks xmlns:a="http://schemas.openxmlformats.org/drawingml/2006/main" noGrp="1"/>
          </p:cNvSpPr>
          <p:nvPr/>
        </p:nvSpPr>
        <p:spPr>
          <a:xfrm xmlns:a="http://schemas.openxmlformats.org/drawingml/2006/main">
            <a:off x="781050" y="4019550"/>
            <a:ext cx="10525125"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575" b="0">
                <a:solidFill>
                  <a:srgbClr val="14263E"/>
                </a:solidFill>
                <a:latin typeface="Calibri"/>
                <a:ea typeface="Calibri"/>
                <a:cs typeface="Calibri"/>
              </a:defRPr>
            </a:pPr>
            <a:r>
              <a:rPr sz="1575" b="0">
                <a:solidFill>
                  <a:srgbClr val="14263E"/>
                </a:solidFill>
                <a:latin typeface="Calibri"/>
                <a:ea typeface="Calibri"/>
                <a:cs typeface="Calibri"/>
              </a:rPr>
              <a:t>Placement checklist moved from in progress to ready, with a reminder record.</a:t>
            </a:r>
          </a:p>
          <a:p xmlns:a="http://schemas.openxmlformats.org/drawingml/2006/main">
            <a:r>
              <a:t/>
            </a:r>
          </a:p>
          <a:p xmlns:a="http://schemas.openxmlformats.org/drawingml/2006/main">
            <a:pPr algn="l">
              <a:defRPr sz="1575" b="0">
                <a:solidFill>
                  <a:srgbClr val="14263E"/>
                </a:solidFill>
                <a:latin typeface="Calibri"/>
                <a:ea typeface="Calibri"/>
                <a:cs typeface="Calibri"/>
              </a:defRPr>
            </a:pPr>
            <a:r>
              <a:rPr sz="1575" b="0">
                <a:solidFill>
                  <a:srgbClr val="14263E"/>
                </a:solidFill>
                <a:latin typeface="Calibri"/>
                <a:ea typeface="Calibri"/>
                <a:cs typeface="Calibri"/>
              </a:rPr>
              <a:t>Student upload passed through late evaluation, TA review, grading and feedback.</a:t>
            </a:r>
          </a:p>
          <a:p xmlns:a="http://schemas.openxmlformats.org/drawingml/2006/main">
            <a:r>
              <a:t/>
            </a:r>
          </a:p>
          <a:p xmlns:a="http://schemas.openxmlformats.org/drawingml/2006/main">
            <a:pPr algn="l">
              <a:defRPr sz="1575" b="0">
                <a:solidFill>
                  <a:srgbClr val="14263E"/>
                </a:solidFill>
                <a:latin typeface="Calibri"/>
                <a:ea typeface="Calibri"/>
                <a:cs typeface="Calibri"/>
              </a:defRPr>
            </a:pPr>
            <a:r>
              <a:rPr sz="1575" b="0">
                <a:solidFill>
                  <a:srgbClr val="14263E"/>
                </a:solidFill>
                <a:latin typeface="Calibri"/>
                <a:ea typeface="Calibri"/>
                <a:cs typeface="Calibri"/>
              </a:rPr>
              <a:t>Role violations returned 403. Responsive pages were checked at 390 × 844.</a:t>
            </a:r>
          </a:p>
          <a:p xmlns:a="http://schemas.openxmlformats.org/drawingml/2006/main">
            <a:r>
              <a:t/>
            </a:r>
          </a:p>
          <a:p xmlns:a="http://schemas.openxmlformats.org/drawingml/2006/main">
            <a:pPr algn="l">
              <a:defRPr sz="1575" b="0">
                <a:solidFill>
                  <a:srgbClr val="14263E"/>
                </a:solidFill>
                <a:latin typeface="Calibri"/>
                <a:ea typeface="Calibri"/>
                <a:cs typeface="Calibri"/>
              </a:defRPr>
            </a:pPr>
            <a:r>
              <a:rPr sz="1575" b="0">
                <a:solidFill>
                  <a:srgbClr val="14263E"/>
                </a:solidFill>
                <a:latin typeface="Calibri"/>
                <a:ea typeface="Calibri"/>
                <a:cs typeface="Calibri"/>
              </a:rPr>
              <a:t>CI covers migrations, Django checks, tests and the documentation build.</a:t>
            </a:r>
          </a:p>
        </p:txBody>
      </p:sp>
    </p:spTree>
    <p:extLst>
      <p:ext uri="{BB962C8B-B14F-4D97-AF65-F5344CB8AC3E}">
        <p14:creationId xmlns:p14="http://schemas.microsoft.com/office/powerpoint/2010/main" val="1239647421"/>
      </p:ext>
    </p:extLst>
  </p:cSld>
</p:sld>
</file>

<file path=ppt/slides/slide12.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5" name="header-band">
            <a:extLst xmlns:a="http://schemas.openxmlformats.org/drawingml/2006/main">
              <a:ext uri="{FF2B5EF4-FFF2-40B4-BE49-F238E27FC236}">
                <a16:creationId xmlns:a16="http://schemas.microsoft.com/office/drawing/2014/main" id="{2786C9D9-8D1D-4B76-8615-2FAD88B7C8EF}"/>
              </a:ext>
            </a:extLst>
          </p:cNvPr>
          <p:cNvSpPr>
            <a:spLocks xmlns:a="http://schemas.openxmlformats.org/drawingml/2006/main" noGrp="1"/>
          </p:cNvSpPr>
          <p:nvPr/>
        </p:nvSpPr>
        <p:spPr>
          <a:xfrm xmlns:a="http://schemas.openxmlformats.org/drawingml/2006/main">
            <a:off x="0" y="0"/>
            <a:ext cx="12192000" cy="1123950"/>
          </a:xfrm>
          <a:prstGeom xmlns:a="http://schemas.openxmlformats.org/drawingml/2006/main" prst="rect">
            <a:avLst/>
          </a:prstGeom>
          <a:solidFill xmlns:a="http://schemas.openxmlformats.org/drawingml/2006/main">
            <a:srgbClr val="0C2340"/>
          </a:solidFill>
          <a:ln xmlns:a="http://schemas.openxmlformats.org/drawingml/2006/main" w="0">
            <a:noFill/>
            <a:prstDash val="solid"/>
          </a:ln>
        </p:spPr>
      </p:sp>
      <p:sp>
        <p:nvSpPr>
          <p:cNvPr id="2" name="header-rule">
            <a:extLst xmlns:a="http://schemas.openxmlformats.org/drawingml/2006/main">
              <a:ext uri="{FF2B5EF4-FFF2-40B4-BE49-F238E27FC236}">
                <a16:creationId xmlns:a16="http://schemas.microsoft.com/office/drawing/2014/main" id="{1CB4334D-805D-41EC-B4F5-C125C602E5AB}"/>
              </a:ext>
            </a:extLst>
          </p:cNvPr>
          <p:cNvSpPr>
            <a:spLocks xmlns:a="http://schemas.openxmlformats.org/drawingml/2006/main" noGrp="1"/>
          </p:cNvSpPr>
          <p:nvPr/>
        </p:nvSpPr>
        <p:spPr>
          <a:xfrm xmlns:a="http://schemas.openxmlformats.org/drawingml/2006/main">
            <a:off x="0" y="1066800"/>
            <a:ext cx="12192000" cy="57150"/>
          </a:xfrm>
          <a:prstGeom xmlns:a="http://schemas.openxmlformats.org/drawingml/2006/main" prst="rect">
            <a:avLst/>
          </a:prstGeom>
          <a:solidFill xmlns:a="http://schemas.openxmlformats.org/drawingml/2006/main">
            <a:srgbClr val="D88900"/>
          </a:solidFill>
          <a:ln xmlns:a="http://schemas.openxmlformats.org/drawingml/2006/main" w="0">
            <a:noFill/>
            <a:prstDash val="solid"/>
          </a:ln>
        </p:spPr>
      </p:sp>
      <p:sp>
        <p:nvSpPr>
          <p:cNvPr id="3" name="section-label">
            <a:extLst xmlns:a="http://schemas.openxmlformats.org/drawingml/2006/main">
              <a:ext uri="{FF2B5EF4-FFF2-40B4-BE49-F238E27FC236}">
                <a16:creationId xmlns:a16="http://schemas.microsoft.com/office/drawing/2014/main" id="{FA44C02D-2827-4C36-9248-1F46B1FAFB11}"/>
              </a:ext>
            </a:extLst>
          </p:cNvPr>
          <p:cNvSpPr>
            <a:spLocks xmlns:a="http://schemas.openxmlformats.org/drawingml/2006/main" noGrp="1"/>
          </p:cNvSpPr>
          <p:nvPr/>
        </p:nvSpPr>
        <p:spPr>
          <a:xfrm xmlns:a="http://schemas.openxmlformats.org/drawingml/2006/main">
            <a:off x="552450" y="142875"/>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125" b="1">
                <a:solidFill>
                  <a:srgbClr val="D88900"/>
                </a:solidFill>
                <a:latin typeface="Calibri"/>
                <a:ea typeface="Calibri"/>
                <a:cs typeface="Calibri"/>
              </a:defRPr>
            </a:pPr>
            <a:r>
              <a:rPr sz="1125" b="1">
                <a:solidFill>
                  <a:srgbClr val="D88900"/>
                </a:solidFill>
                <a:latin typeface="Calibri"/>
                <a:ea typeface="Calibri"/>
                <a:cs typeface="Calibri"/>
              </a:rPr>
              <a:t>PROJECT BOUNDARY</a:t>
            </a:r>
          </a:p>
        </p:txBody>
      </p:sp>
      <p:sp>
        <p:nvSpPr>
          <p:cNvPr id="4" name="slide-title">
            <a:extLst xmlns:a="http://schemas.openxmlformats.org/drawingml/2006/main">
              <a:ext uri="{FF2B5EF4-FFF2-40B4-BE49-F238E27FC236}">
                <a16:creationId xmlns:a16="http://schemas.microsoft.com/office/drawing/2014/main" id="{F82BC557-3D1C-4B38-B268-3E2B044CC2B5}"/>
              </a:ext>
            </a:extLst>
          </p:cNvPr>
          <p:cNvSpPr>
            <a:spLocks xmlns:a="http://schemas.openxmlformats.org/drawingml/2006/main" noGrp="1"/>
          </p:cNvSpPr>
          <p:nvPr/>
        </p:nvSpPr>
        <p:spPr>
          <a:xfrm xmlns:a="http://schemas.openxmlformats.org/drawingml/2006/main">
            <a:off x="552450" y="400050"/>
            <a:ext cx="11049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3000" b="1">
                <a:solidFill>
                  <a:srgbClr val="FFFFFF"/>
                </a:solidFill>
                <a:latin typeface="Georgia"/>
                <a:ea typeface="Georgia"/>
                <a:cs typeface="Georgia"/>
              </a:defRPr>
            </a:pPr>
            <a:r>
              <a:rPr sz="3000" b="1">
                <a:solidFill>
                  <a:srgbClr val="FFFFFF"/>
                </a:solidFill>
                <a:latin typeface="Georgia"/>
                <a:ea typeface="Georgia"/>
                <a:cs typeface="Georgia"/>
              </a:rPr>
              <a:t>Week 7 scope and follow-on work</a:t>
            </a:r>
          </a:p>
        </p:txBody>
      </p:sp>
      <p:sp>
        <p:nvSpPr>
          <p:cNvPr id="5" name="footer-band">
            <a:extLst xmlns:a="http://schemas.openxmlformats.org/drawingml/2006/main">
              <a:ext uri="{FF2B5EF4-FFF2-40B4-BE49-F238E27FC236}">
                <a16:creationId xmlns:a16="http://schemas.microsoft.com/office/drawing/2014/main" id="{0AC66CE3-87FE-4761-9523-61C22DEEC8D0}"/>
              </a:ext>
            </a:extLst>
          </p:cNvPr>
          <p:cNvSpPr>
            <a:spLocks xmlns:a="http://schemas.openxmlformats.org/drawingml/2006/main" noGrp="1"/>
          </p:cNvSpPr>
          <p:nvPr/>
        </p:nvSpPr>
        <p:spPr>
          <a:xfrm xmlns:a="http://schemas.openxmlformats.org/drawingml/2006/main">
            <a:off x="0" y="6457950"/>
            <a:ext cx="12192000" cy="400050"/>
          </a:xfrm>
          <a:prstGeom xmlns:a="http://schemas.openxmlformats.org/drawingml/2006/main" prst="rect">
            <a:avLst/>
          </a:prstGeom>
          <a:solidFill xmlns:a="http://schemas.openxmlformats.org/drawingml/2006/main">
            <a:srgbClr val="0C2340"/>
          </a:solidFill>
          <a:ln xmlns:a="http://schemas.openxmlformats.org/drawingml/2006/main" w="0">
            <a:noFill/>
            <a:prstDash val="solid"/>
          </a:ln>
        </p:spPr>
      </p:sp>
      <p:sp>
        <p:nvSpPr>
          <p:cNvPr id="6" name="page-number">
            <a:extLst xmlns:a="http://schemas.openxmlformats.org/drawingml/2006/main">
              <a:ext uri="{FF2B5EF4-FFF2-40B4-BE49-F238E27FC236}">
                <a16:creationId xmlns:a16="http://schemas.microsoft.com/office/drawing/2014/main" id="{3E9E365D-EC12-4D15-81C9-B81E017DEEE9}"/>
              </a:ext>
            </a:extLst>
          </p:cNvPr>
          <p:cNvSpPr>
            <a:spLocks xmlns:a="http://schemas.openxmlformats.org/drawingml/2006/main" noGrp="1"/>
          </p:cNvSpPr>
          <p:nvPr/>
        </p:nvSpPr>
        <p:spPr>
          <a:xfrm xmlns:a="http://schemas.openxmlformats.org/drawingml/2006/main">
            <a:off x="11144250" y="65341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r">
              <a:defRPr sz="1125" b="1">
                <a:solidFill>
                  <a:srgbClr val="D88900"/>
                </a:solidFill>
                <a:latin typeface="Calibri"/>
                <a:ea typeface="Calibri"/>
                <a:cs typeface="Calibri"/>
              </a:defRPr>
            </a:pPr>
            <a:r>
              <a:rPr sz="1125" b="1">
                <a:solidFill>
                  <a:srgbClr val="D88900"/>
                </a:solidFill>
                <a:latin typeface="Calibri"/>
                <a:ea typeface="Calibri"/>
                <a:cs typeface="Calibri"/>
              </a:rPr>
              <a:t>12 / 13</a:t>
            </a:r>
          </a:p>
        </p:txBody>
      </p:sp>
      <p:sp>
        <p:nvSpPr>
          <p:cNvPr id="7" name="scope-in-label">
            <a:extLst xmlns:a="http://schemas.openxmlformats.org/drawingml/2006/main">
              <a:ext uri="{FF2B5EF4-FFF2-40B4-BE49-F238E27FC236}">
                <a16:creationId xmlns:a16="http://schemas.microsoft.com/office/drawing/2014/main" id="{0CCC2D13-3005-475B-8767-3AC5C6790D21}"/>
              </a:ext>
            </a:extLst>
          </p:cNvPr>
          <p:cNvSpPr>
            <a:spLocks xmlns:a="http://schemas.openxmlformats.org/drawingml/2006/main" noGrp="1"/>
          </p:cNvSpPr>
          <p:nvPr/>
        </p:nvSpPr>
        <p:spPr>
          <a:xfrm xmlns:a="http://schemas.openxmlformats.org/drawingml/2006/main">
            <a:off x="666750" y="1495425"/>
            <a:ext cx="485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1">
                <a:solidFill>
                  <a:srgbClr val="D88900"/>
                </a:solidFill>
                <a:latin typeface="Calibri"/>
                <a:ea typeface="Calibri"/>
                <a:cs typeface="Calibri"/>
              </a:defRPr>
            </a:pPr>
            <a:r>
              <a:rPr sz="1350" b="1">
                <a:solidFill>
                  <a:srgbClr val="D88900"/>
                </a:solidFill>
                <a:latin typeface="Calibri"/>
                <a:ea typeface="Calibri"/>
                <a:cs typeface="Calibri"/>
              </a:rPr>
              <a:t>IN THE WEEK 7 PROTOTYPE</a:t>
            </a:r>
          </a:p>
        </p:txBody>
      </p:sp>
      <p:sp>
        <p:nvSpPr>
          <p:cNvPr id="8" name="scope-in-heading">
            <a:extLst xmlns:a="http://schemas.openxmlformats.org/drawingml/2006/main">
              <a:ext uri="{FF2B5EF4-FFF2-40B4-BE49-F238E27FC236}">
                <a16:creationId xmlns:a16="http://schemas.microsoft.com/office/drawing/2014/main" id="{50B2D89A-902D-4A50-961A-8A9BF024D3D5}"/>
              </a:ext>
            </a:extLst>
          </p:cNvPr>
          <p:cNvSpPr>
            <a:spLocks xmlns:a="http://schemas.openxmlformats.org/drawingml/2006/main" noGrp="1"/>
          </p:cNvSpPr>
          <p:nvPr/>
        </p:nvSpPr>
        <p:spPr>
          <a:xfrm xmlns:a="http://schemas.openxmlformats.org/drawingml/2006/main">
            <a:off x="666750" y="1857375"/>
            <a:ext cx="4857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2400" b="1">
                <a:solidFill>
                  <a:srgbClr val="0C2340"/>
                </a:solidFill>
                <a:latin typeface="Georgia"/>
                <a:ea typeface="Georgia"/>
                <a:cs typeface="Georgia"/>
              </a:defRPr>
            </a:pPr>
            <a:r>
              <a:rPr sz="2400" b="1">
                <a:solidFill>
                  <a:srgbClr val="0C2340"/>
                </a:solidFill>
                <a:latin typeface="Georgia"/>
                <a:ea typeface="Georgia"/>
                <a:cs typeface="Georgia"/>
              </a:rPr>
              <a:t>Working thin paths</a:t>
            </a:r>
          </a:p>
        </p:txBody>
      </p:sp>
      <p:sp>
        <p:nvSpPr>
          <p:cNvPr id="9" name="scope-in-rule">
            <a:extLst xmlns:a="http://schemas.openxmlformats.org/drawingml/2006/main">
              <a:ext uri="{FF2B5EF4-FFF2-40B4-BE49-F238E27FC236}">
                <a16:creationId xmlns:a16="http://schemas.microsoft.com/office/drawing/2014/main" id="{ADB5D86C-1ADC-4C26-B0B5-7D5B723EE666}"/>
              </a:ext>
            </a:extLst>
          </p:cNvPr>
          <p:cNvSpPr>
            <a:spLocks xmlns:a="http://schemas.openxmlformats.org/drawingml/2006/main" noGrp="1"/>
          </p:cNvSpPr>
          <p:nvPr/>
        </p:nvSpPr>
        <p:spPr>
          <a:xfrm xmlns:a="http://schemas.openxmlformats.org/drawingml/2006/main">
            <a:off x="666750" y="2419350"/>
            <a:ext cx="4857750" cy="28575"/>
          </a:xfrm>
          <a:prstGeom xmlns:a="http://schemas.openxmlformats.org/drawingml/2006/main" prst="rect">
            <a:avLst/>
          </a:prstGeom>
          <a:solidFill xmlns:a="http://schemas.openxmlformats.org/drawingml/2006/main">
            <a:srgbClr val="D88900"/>
          </a:solidFill>
          <a:ln xmlns:a="http://schemas.openxmlformats.org/drawingml/2006/main" w="0">
            <a:noFill/>
            <a:prstDash val="solid"/>
          </a:ln>
        </p:spPr>
      </p:sp>
      <p:sp>
        <p:nvSpPr>
          <p:cNvPr id="10" name="scope-in-body">
            <a:extLst xmlns:a="http://schemas.openxmlformats.org/drawingml/2006/main">
              <a:ext uri="{FF2B5EF4-FFF2-40B4-BE49-F238E27FC236}">
                <a16:creationId xmlns:a16="http://schemas.microsoft.com/office/drawing/2014/main" id="{4F8CD006-500F-4A58-947D-5AB74BD870F9}"/>
              </a:ext>
            </a:extLst>
          </p:cNvPr>
          <p:cNvSpPr>
            <a:spLocks xmlns:a="http://schemas.openxmlformats.org/drawingml/2006/main" noGrp="1"/>
          </p:cNvSpPr>
          <p:nvPr/>
        </p:nvSpPr>
        <p:spPr>
          <a:xfrm xmlns:a="http://schemas.openxmlformats.org/drawingml/2006/main">
            <a:off x="685800" y="2667000"/>
            <a:ext cx="4857750" cy="3095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4263E"/>
                </a:solidFill>
                <a:latin typeface="Calibri"/>
                <a:ea typeface="Calibri"/>
                <a:cs typeface="Calibri"/>
              </a:defRPr>
            </a:pPr>
            <a:r>
              <a:rPr sz="1650" b="0">
                <a:solidFill>
                  <a:srgbClr val="14263E"/>
                </a:solidFill>
                <a:latin typeface="Calibri"/>
                <a:ea typeface="Calibri"/>
                <a:cs typeface="Calibri"/>
              </a:rPr>
              <a:t>Role-based login and protected actions</a:t>
            </a:r>
          </a:p>
          <a:p xmlns:a="http://schemas.openxmlformats.org/drawingml/2006/main">
            <a:r>
              <a:t/>
            </a:r>
          </a:p>
          <a:p xmlns:a="http://schemas.openxmlformats.org/drawingml/2006/main">
            <a:pPr algn="l">
              <a:defRPr sz="1650" b="0">
                <a:solidFill>
                  <a:srgbClr val="14263E"/>
                </a:solidFill>
                <a:latin typeface="Calibri"/>
                <a:ea typeface="Calibri"/>
                <a:cs typeface="Calibri"/>
              </a:defRPr>
            </a:pPr>
            <a:r>
              <a:rPr sz="1650" b="0">
                <a:solidFill>
                  <a:srgbClr val="14263E"/>
                </a:solidFill>
                <a:latin typeface="Calibri"/>
                <a:ea typeface="Calibri"/>
                <a:cs typeface="Calibri"/>
              </a:rPr>
              <a:t>Placement readiness and reminder logging</a:t>
            </a:r>
          </a:p>
          <a:p xmlns:a="http://schemas.openxmlformats.org/drawingml/2006/main">
            <a:r>
              <a:t/>
            </a:r>
          </a:p>
          <a:p xmlns:a="http://schemas.openxmlformats.org/drawingml/2006/main">
            <a:pPr algn="l">
              <a:defRPr sz="1650" b="0">
                <a:solidFill>
                  <a:srgbClr val="14263E"/>
                </a:solidFill>
                <a:latin typeface="Calibri"/>
                <a:ea typeface="Calibri"/>
                <a:cs typeface="Calibri"/>
              </a:defRPr>
            </a:pPr>
            <a:r>
              <a:rPr sz="1650" b="0">
                <a:solidFill>
                  <a:srgbClr val="14263E"/>
                </a:solidFill>
                <a:latin typeface="Calibri"/>
                <a:ea typeface="Calibri"/>
                <a:cs typeface="Calibri"/>
              </a:rPr>
              <a:t>Assignment upload, late decision, review and grading</a:t>
            </a:r>
          </a:p>
          <a:p xmlns:a="http://schemas.openxmlformats.org/drawingml/2006/main">
            <a:r>
              <a:t/>
            </a:r>
          </a:p>
          <a:p xmlns:a="http://schemas.openxmlformats.org/drawingml/2006/main">
            <a:pPr algn="l">
              <a:defRPr sz="1650" b="0">
                <a:solidFill>
                  <a:srgbClr val="14263E"/>
                </a:solidFill>
                <a:latin typeface="Calibri"/>
                <a:ea typeface="Calibri"/>
                <a:cs typeface="Calibri"/>
              </a:defRPr>
            </a:pPr>
            <a:r>
              <a:rPr sz="1650" b="0">
                <a:solidFill>
                  <a:srgbClr val="14263E"/>
                </a:solidFill>
                <a:latin typeface="Calibri"/>
                <a:ea typeface="Calibri"/>
                <a:cs typeface="Calibri"/>
              </a:rPr>
              <a:t>SQLite and local media for demonstration</a:t>
            </a:r>
          </a:p>
        </p:txBody>
      </p:sp>
      <p:sp>
        <p:nvSpPr>
          <p:cNvPr id="11" name="scope-next-label">
            <a:extLst xmlns:a="http://schemas.openxmlformats.org/drawingml/2006/main">
              <a:ext uri="{FF2B5EF4-FFF2-40B4-BE49-F238E27FC236}">
                <a16:creationId xmlns:a16="http://schemas.microsoft.com/office/drawing/2014/main" id="{218E4FDB-9BB4-4E0B-BAB4-A730A49D7046}"/>
              </a:ext>
            </a:extLst>
          </p:cNvPr>
          <p:cNvSpPr>
            <a:spLocks xmlns:a="http://schemas.openxmlformats.org/drawingml/2006/main" noGrp="1"/>
          </p:cNvSpPr>
          <p:nvPr/>
        </p:nvSpPr>
        <p:spPr>
          <a:xfrm xmlns:a="http://schemas.openxmlformats.org/drawingml/2006/main">
            <a:off x="6477000" y="1495425"/>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1350" b="1">
                <a:solidFill>
                  <a:srgbClr val="D88900"/>
                </a:solidFill>
                <a:latin typeface="Calibri"/>
                <a:ea typeface="Calibri"/>
                <a:cs typeface="Calibri"/>
              </a:defRPr>
            </a:pPr>
            <a:r>
              <a:rPr sz="1350" b="1">
                <a:solidFill>
                  <a:srgbClr val="D88900"/>
                </a:solidFill>
                <a:latin typeface="Calibri"/>
                <a:ea typeface="Calibri"/>
                <a:cs typeface="Calibri"/>
              </a:rPr>
              <a:t>AFTER WEEK 7</a:t>
            </a:r>
          </a:p>
        </p:txBody>
      </p:sp>
      <p:sp>
        <p:nvSpPr>
          <p:cNvPr id="12" name="scope-next-heading">
            <a:extLst xmlns:a="http://schemas.openxmlformats.org/drawingml/2006/main">
              <a:ext uri="{FF2B5EF4-FFF2-40B4-BE49-F238E27FC236}">
                <a16:creationId xmlns:a16="http://schemas.microsoft.com/office/drawing/2014/main" id="{9C384053-B2C9-42E2-B758-28DD11397D1F}"/>
              </a:ext>
            </a:extLst>
          </p:cNvPr>
          <p:cNvSpPr>
            <a:spLocks xmlns:a="http://schemas.openxmlformats.org/drawingml/2006/main" noGrp="1"/>
          </p:cNvSpPr>
          <p:nvPr/>
        </p:nvSpPr>
        <p:spPr>
          <a:xfrm xmlns:a="http://schemas.openxmlformats.org/drawingml/2006/main">
            <a:off x="6477000" y="1857375"/>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defRPr sz="2400" b="1">
                <a:solidFill>
                  <a:srgbClr val="0C2340"/>
                </a:solidFill>
                <a:latin typeface="Georgia"/>
                <a:ea typeface="Georgia"/>
                <a:cs typeface="Georgia"/>
              </a:defRPr>
            </a:pPr>
            <a:r>
              <a:rPr sz="2400" b="1">
                <a:solidFill>
                  <a:srgbClr val="0C2340"/>
                </a:solidFill>
                <a:latin typeface="Georgia"/>
                <a:ea typeface="Georgia"/>
                <a:cs typeface="Georgia"/>
              </a:rPr>
              <a:t>Planned improvements</a:t>
            </a:r>
          </a:p>
        </p:txBody>
      </p:sp>
      <p:sp>
        <p:nvSpPr>
          <p:cNvPr id="13" name="scope-next-rule">
            <a:extLst xmlns:a="http://schemas.openxmlformats.org/drawingml/2006/main">
              <a:ext uri="{FF2B5EF4-FFF2-40B4-BE49-F238E27FC236}">
                <a16:creationId xmlns:a16="http://schemas.microsoft.com/office/drawing/2014/main" id="{E7EF3D0F-3230-4B7F-BF7F-A165E8C45473}"/>
              </a:ext>
            </a:extLst>
          </p:cNvPr>
          <p:cNvSpPr>
            <a:spLocks xmlns:a="http://schemas.openxmlformats.org/drawingml/2006/main" noGrp="1"/>
          </p:cNvSpPr>
          <p:nvPr/>
        </p:nvSpPr>
        <p:spPr>
          <a:xfrm xmlns:a="http://schemas.openxmlformats.org/drawingml/2006/main">
            <a:off x="6477000" y="2419350"/>
            <a:ext cx="4953000" cy="28575"/>
          </a:xfrm>
          <a:prstGeom xmlns:a="http://schemas.openxmlformats.org/drawingml/2006/main" prst="rect">
            <a:avLst/>
          </a:prstGeom>
          <a:solidFill xmlns:a="http://schemas.openxmlformats.org/drawingml/2006/main">
            <a:srgbClr val="D88900"/>
          </a:solidFill>
          <a:ln xmlns:a="http://schemas.openxmlformats.org/drawingml/2006/main" w="0">
            <a:noFill/>
            <a:prstDash val="solid"/>
          </a:ln>
        </p:spPr>
      </p:sp>
      <p:sp>
        <p:nvSpPr>
          <p:cNvPr id="14" name="scope-next-body">
            <a:extLst xmlns:a="http://schemas.openxmlformats.org/drawingml/2006/main">
              <a:ext uri="{FF2B5EF4-FFF2-40B4-BE49-F238E27FC236}">
                <a16:creationId xmlns:a16="http://schemas.microsoft.com/office/drawing/2014/main" id="{8EA64975-8C25-4080-AFAB-4F294D298311}"/>
              </a:ext>
            </a:extLst>
          </p:cNvPr>
          <p:cNvSpPr>
            <a:spLocks xmlns:a="http://schemas.openxmlformats.org/drawingml/2006/main" noGrp="1"/>
          </p:cNvSpPr>
          <p:nvPr/>
        </p:nvSpPr>
        <p:spPr>
          <a:xfrm xmlns:a="http://schemas.openxmlformats.org/drawingml/2006/main">
            <a:off x="6496050" y="2667000"/>
            <a:ext cx="4953000" cy="3095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l">
              <a:defRPr sz="1650" b="0">
                <a:solidFill>
                  <a:srgbClr val="14263E"/>
                </a:solidFill>
                <a:latin typeface="Calibri"/>
                <a:ea typeface="Calibri"/>
                <a:cs typeface="Calibri"/>
              </a:defRPr>
            </a:pPr>
            <a:r>
              <a:rPr sz="1650" b="0">
                <a:solidFill>
                  <a:srgbClr val="14263E"/>
                </a:solidFill>
                <a:latin typeface="Calibri"/>
                <a:ea typeface="Calibri"/>
                <a:cs typeface="Calibri"/>
              </a:rPr>
              <a:t>Real reminder worker and email delivery</a:t>
            </a:r>
          </a:p>
          <a:p xmlns:a="http://schemas.openxmlformats.org/drawingml/2006/main">
            <a:r>
              <a:t/>
            </a:r>
          </a:p>
          <a:p xmlns:a="http://schemas.openxmlformats.org/drawingml/2006/main">
            <a:pPr algn="l">
              <a:defRPr sz="1650" b="0">
                <a:solidFill>
                  <a:srgbClr val="14263E"/>
                </a:solidFill>
                <a:latin typeface="Calibri"/>
                <a:ea typeface="Calibri"/>
                <a:cs typeface="Calibri"/>
              </a:defRPr>
            </a:pPr>
            <a:r>
              <a:rPr sz="1650" b="0">
                <a:solidFill>
                  <a:srgbClr val="14263E"/>
                </a:solidFill>
                <a:latin typeface="Calibri"/>
                <a:ea typeface="Calibri"/>
                <a:cs typeface="Calibri"/>
              </a:rPr>
              <a:t>PostgreSQL and managed file storage</a:t>
            </a:r>
          </a:p>
          <a:p xmlns:a="http://schemas.openxmlformats.org/drawingml/2006/main">
            <a:r>
              <a:t/>
            </a:r>
          </a:p>
          <a:p xmlns:a="http://schemas.openxmlformats.org/drawingml/2006/main">
            <a:pPr algn="l">
              <a:defRPr sz="1650" b="0">
                <a:solidFill>
                  <a:srgbClr val="14263E"/>
                </a:solidFill>
                <a:latin typeface="Calibri"/>
                <a:ea typeface="Calibri"/>
                <a:cs typeface="Calibri"/>
              </a:defRPr>
            </a:pPr>
            <a:r>
              <a:rPr sz="1650" b="0">
                <a:solidFill>
                  <a:srgbClr val="14263E"/>
                </a:solidFill>
                <a:latin typeface="Calibri"/>
                <a:ea typeface="Calibri"/>
                <a:cs typeface="Calibri"/>
              </a:rPr>
              <a:t>Additional authorization, malware and concurrency checks</a:t>
            </a:r>
          </a:p>
          <a:p xmlns:a="http://schemas.openxmlformats.org/drawingml/2006/main">
            <a:r>
              <a:t/>
            </a:r>
          </a:p>
          <a:p xmlns:a="http://schemas.openxmlformats.org/drawingml/2006/main">
            <a:pPr algn="l">
              <a:defRPr sz="1650" b="0">
                <a:solidFill>
                  <a:srgbClr val="14263E"/>
                </a:solidFill>
                <a:latin typeface="Calibri"/>
                <a:ea typeface="Calibri"/>
                <a:cs typeface="Calibri"/>
              </a:defRPr>
            </a:pPr>
            <a:r>
              <a:rPr sz="1650" b="0">
                <a:solidFill>
                  <a:srgbClr val="14263E"/>
                </a:solidFill>
                <a:latin typeface="Calibri"/>
                <a:ea typeface="Calibri"/>
                <a:cs typeface="Calibri"/>
              </a:rPr>
              <a:t>The similarity score remains a simple text-overlap stub</a:t>
            </a:r>
          </a:p>
        </p:txBody>
      </p:sp>
    </p:spTree>
    <p:extLst>
      <p:ext uri="{BB962C8B-B14F-4D97-AF65-F5344CB8AC3E}">
        <p14:creationId xmlns:p14="http://schemas.microsoft.com/office/powerpoint/2010/main" val="97843689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57b135399134a80"/>
          <a:stretch xmlns:a="http://schemas.openxmlformats.org/drawingml/2006/main"/>
        </p:blipFill>
        <p:spPr>
          <a:xfrm xmlns:a="http://schemas.openxmlformats.org/drawingml/2006/main">
            <a:off x="6350" y="0"/>
            <a:ext cx="12179300" cy="6858000"/>
          </a:xfrm>
          <a:prstGeom xmlns:a="http://schemas.openxmlformats.org/drawingml/2006/main" prst="rect">
            <a:avLst/>
          </a:prstGeom>
        </p:spPr>
      </p:pic>
    </p:spTree>
    <p:extLst>
      <p:ext uri="{BB962C8B-B14F-4D97-AF65-F5344CB8AC3E}">
        <p14:creationId xmlns:p14="http://schemas.microsoft.com/office/powerpoint/2010/main" val="11627415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2026-10-05T15:51:32.3250000Z</dcterms:created>
  <dcterms:modified xsi:type="dcterms:W3CDTF">2026-10-05T15:51:32.3250000Z</dcterms:modified>
</coreProperties>
</file>